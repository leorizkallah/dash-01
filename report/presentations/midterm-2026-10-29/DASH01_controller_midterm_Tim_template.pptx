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6"/>
    <p:sldId id="271" r:id="rId5"/>
    <p:sldId id="272" r:id="rId4"/>
    <p:sldId id="273" r:id="rId3"/>
    <p:sldId id="274" r:id="rId2"/>
    <p:sldId id="275" r:id="rId26"/>
    <p:sldId id="276" r:id="rId27"/>
  </p:sldIdLst>
  <p:sldSz cx="12191999"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20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9.xml"/><Relationship Id="rId3" Type="http://schemas.openxmlformats.org/officeDocument/2006/relationships/slide" Target="slides/slide18.xml"/><Relationship Id="rId4" Type="http://schemas.openxmlformats.org/officeDocument/2006/relationships/slide" Target="slides/slide17.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339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20 seconds.</a:t>
            </a:r>
          </a:p>
          <a:p/>
          <a:p>
            <a:r>
              <a:t>My project continues Nathann’s controller work on DASH-01, alongside Tim’s mechanical redesign. The first part of the semester has been about adapting the simulator and recovering useful locomotion on the new robot. I will show the architecture we inherited, what the experiments taught us, and how we move from promising simulation videos to treadmill tests and a short demonstration.</a:t>
            </a:r>
          </a:p>
          <a:p/>
          <a:p>
            <a:r>
              <a:t>Evidence / provenance:</a:t>
            </a:r>
          </a:p>
          <a:p>
            <a:r>
              <a:t>Reference style, lab/supervision and photograph: Tim Kobler, DASH01_midterm.pptx, supplied by user.</a:t>
            </a:r>
          </a:p>
          <a:p>
            <a:r>
              <a:t>Data cutoff: 26 October 2026; presentation date follows Tim’s deck.</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10 seconds.</a:t>
            </a:r>
          </a:p>
          <a:p/>
          <a:p>
            <a:r>
              <a:t>I will follow the same four parts as Tim: context, what was done, objectives and timeline, and challenges. My focus is the controller and its validation.</a:t>
            </a:r>
          </a:p>
          <a:p/>
          <a:p>
            <a:r>
              <a:t>Evidence / provenance:</a:t>
            </a:r>
          </a:p>
          <a:p>
            <a:r>
              <a:t>Outline cloned from Tim Kobler’s supplied presentation; controller-specific subtitles.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 seconds.</a:t>
            </a:r>
          </a:p>
          <a:p/>
          <a:p>
            <a:r>
              <a:t>Part 1: Context.</a:t>
            </a:r>
          </a:p>
          <a:p/>
          <a:p>
            <a:r>
              <a:t>Evidence / provenance:</a:t>
            </a:r>
          </a:p>
          <a:p>
            <a:r>
              <a:t>Section divider cloned from the corresponding part of Tim’s supplied deck, including navigation, layout and typography.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35 seconds.</a:t>
            </a:r>
          </a:p>
          <a:p/>
          <a:p>
            <a:r>
              <a:t>The starting point was not an empty software project: Nathann already had a working learning pipeline and a structured walking controller. But new geometry, feet and mass distribution change the dynamics. My part is to adapt the model, train useful behavior, diagnose what the policy actually does and validate it on the real robot. Tim and I therefore share the sim-to-real objective. The final goal remains startup, commanded walking and a controlled stop, rather than just a fast simulation clip.</a:t>
            </a:r>
          </a:p>
          <a:p/>
          <a:p>
            <a:r>
              <a:t>Evidence / provenance:</a:t>
            </a:r>
          </a:p>
          <a:p>
            <a:r>
              <a:t>README.md: original three-phase demonstration plan.</a:t>
            </a:r>
          </a:p>
          <a:p>
            <a:r>
              <a:t>report/cad-v2-import.md: 14.594154 kg corrected simulation model.</a:t>
            </a:r>
          </a:p>
          <a:p>
            <a:r>
              <a:t>report/architecture.md; RLframework/networks.py.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55 seconds.</a:t>
            </a:r>
          </a:p>
          <a:p/>
          <a:p>
            <a:r>
              <a:t>This is a hybrid controller. A neural network uses a short history of joint measurements and the IMU, plus a learned velocity estimate. At one hundred hertz it outputs forty-seven values: forty-one parameters describing periodic joint motion and gains, and six immediate corrective joint offsets. Gait parameters are committed on the gait clock; corrections remain active every tick. PD control and motor limits then generate torque. During PPO training, a separate critic can see simulator ground truth, including contact. The actor cannot. That separation matters for transfer: simulation contact rewards are not additional hardware sensors.</a:t>
            </a:r>
          </a:p>
          <a:p/>
          <a:p>
            <a:r>
              <a:t>Evidence / provenance:</a:t>
            </a:r>
          </a:p>
          <a:p>
            <a:r>
              <a:t>RLframework/networks.py; RLframework/env.py; RLframework/gait.py; RLframework/drive.py.</a:t>
            </a:r>
          </a:p>
          <a:p>
            <a:r>
              <a:t>report/architecture.md: 384 actor observations, 47 actions, estimator 128/64, actor 256/256, privileged critic 413.</a:t>
            </a:r>
          </a:p>
          <a:p>
            <a:r>
              <a:t>Current CAD-v2 policies disable STOP; START/STOP integration remains planned.</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 seconds.</a:t>
            </a:r>
          </a:p>
          <a:p/>
          <a:p>
            <a:r>
              <a:t>Part 2: What was done.</a:t>
            </a:r>
          </a:p>
          <a:p/>
          <a:p>
            <a:r>
              <a:t>Evidence / provenance:</a:t>
            </a:r>
          </a:p>
          <a:p>
            <a:r>
              <a:t>Section divider cloned from the corresponding part of Tim’s supplied deck, including navigation, layout and typography.</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55 seconds.</a:t>
            </a:r>
          </a:p>
          <a:p/>
          <a:p>
            <a:r>
              <a:t>There were several phases, and the early failures were useful. On the previous robot, simply asking a walking policy to stop did not teach balance. Standing demonstrations improved near-standing holding, but that was not a robust stop from motion. With the new CAD we then saw dragging, unilateral activity and micro-steps, so reward and diagnostic definitions became central. After reproducing sustained walking, we moved to actual heel and toe contact measurements. The latest experiments focus on foot lift. This progression is why I now separate staying upright, following a speed and having an acceptable gait.</a:t>
            </a:r>
          </a:p>
          <a:p/>
          <a:p>
            <a:r>
              <a:t>Evidence / provenance:</a:t>
            </a:r>
          </a:p>
          <a:p>
            <a:r>
              <a:t>docs/stop03-experiment-report.md; docs/stop05-experiment-report.md.</a:t>
            </a:r>
          </a:p>
          <a:p>
            <a:r>
              <a:t>report/cad-v2-import.md; docs/gait11-experiment-report.md; docs/walk01-experiment-report.md.</a:t>
            </a:r>
          </a:p>
          <a:p>
            <a:r>
              <a:t>docs/flatfeet-symmetry-v1.md; docs/clearance01-experiment-report.md; docs/clearance02-experiment-report.md.</a:t>
            </a:r>
          </a:p>
          <a:p>
            <a:r>
              <a:t>STOP-03: 0/32 to 21/32 strict 5 s holds after imitation; near-standing, previous model, not a moving-stop result.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55 seconds.</a:t>
            </a:r>
          </a:p>
          <a:p/>
          <a:p>
            <a:r>
              <a:t>These clips have the same target speed and show two stages of the work. The first is the reproduced walking recipe; the second is the flat-feet baseline. Please look at the feet, rather than only the body moving forward. Even when the policy survives, support can be rolled onto one pad and a foot can slide instead of taking a clean swing. The clips are normal-speed simulation recordings, not hardware experiments. They illustrate the evolution, but they are not a controlled single-reward ablation, and one good clip cannot establish robustness.</a:t>
            </a:r>
          </a:p>
          <a:p/>
          <a:p>
            <a:r>
              <a:t>Evidence / provenance:</a:t>
            </a:r>
          </a:p>
          <a:p>
            <a:r>
              <a:t>report/videos/walk01_best_1.50mps.mp4; report/videos/flatfeet_best_1.50mps.mp4.</a:t>
            </a:r>
          </a:p>
          <a:p>
            <a:r>
              <a:t>docs/experiments/walk01_20261019_v1/; docs/experiments/dash01_flatfeet_symmetry_v1/.</a:t>
            </a:r>
          </a:p>
          <a:p>
            <a:r>
              <a:t>Both source clips: nominal MJX, target 1.50 m/s, seed 1000, first episode retained. Excerpts 6–18 s; header/footer cropped for readability, motion not modified.</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40 seconds.</a:t>
            </a:r>
          </a:p>
          <a:p/>
          <a:p>
            <a:r>
              <a:t>The numerical comparison is encouraging. On the same nominal seven-speed evaluation ladder, the saved best flat-feet policy reduces average absolute speed error from about zero-point-eighteen to zero-point-zero-five metres per second. Both saved best policies complete all twenty-eight trials, so survival alone would not show this improvement. We must still inspect support, slip and individual leg behavior. Several things changed together in the flat-feet experiment, and these are single-seed training results, so the graph supports progress rather than a causal claim for one isolated reward term.</a:t>
            </a:r>
          </a:p>
          <a:p/>
          <a:p>
            <a:r>
              <a:t>Evidence / provenance:</a:t>
            </a:r>
          </a:p>
          <a:p>
            <a:r>
              <a:t>docs/experiments/walk01_20261019_v1/best_eval.json.</a:t>
            </a:r>
          </a:p>
          <a:p>
            <a:r>
              <a:t>docs/experiments/dash01_flatfeet_symmetry_v1/best_eval.json.</a:t>
            </a:r>
          </a:p>
          <a:p>
            <a:r>
              <a:t>28 nominal trials, 30 s, 5 s excluded from tracking, command ladder .25/.5/.75/1/1.5/2/2.5 m/s. Not a controlled reward ablation.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45 seconds.</a:t>
            </a:r>
          </a:p>
          <a:p/>
          <a:p>
            <a:r>
              <a:t>The flat-feet baseline had only two to three millimetres of average airborne clearance. A dense penalty below the target gave a learning signal even when feet were still dragging, and fifty million additional steps increased mean lift to roughly twenty-four and twenty-one millimetres. This clip is the first trial from the retained batch, not a selected best-looking trial. There is an important caveat: a separate standalone replay fell after three-point-seven seconds. We keep that failure in the backup slides. The result demonstrates learnable foot lift, not a validated standalone startup or hardware-ready controller.</a:t>
            </a:r>
          </a:p>
          <a:p/>
          <a:p>
            <a:r>
              <a:t>Evidence / provenance:</a:t>
            </a:r>
          </a:p>
          <a:p>
            <a:r>
              <a:t>docs/experiments/clearance01_20261025_v1/clearance_baseline.json; latest_clearance_eval.json.</a:t>
            </a:r>
          </a:p>
          <a:p>
            <a:r>
              <a:t>report/videos/clearance01_final_1.50mps.mp4; original evaluation-protocol replay all 12 trials survive 25 s.</a:t>
            </a:r>
          </a:p>
          <a:p>
            <a:r>
              <a:t>Mean numbers: matched 12-trial 30 s nominal evaluation, 5 s warmup. Video is a single 25 s replay, whose mean is 23.55/20.91 mm.</a:t>
            </a:r>
          </a:p>
          <a:p>
            <a:r>
              <a:t>report/clearance01-videos.html: standalone pinned-command replay falls at 3.67 s; cause not isolated.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50 seconds.</a:t>
            </a:r>
          </a:p>
          <a:p/>
          <a:p>
            <a:r>
              <a:t>This plot shows why the latest policy is progress but not the end point. Mean height rises, yet the fraction of scheduled mid-swing samples above twenty millimetres remains below our eighty-percent criterion. Peaks also reach roughly forty to fifty millimetres. A bonus that merely saturates does not cap the actual motion. The next run therefore returns to the flat-feet baseline and targets a lower band: ten millimetres minimum, bonus saturation at twenty-five, plus an explicit penalty above that upper target. We submitted two hundred million additional steps. There are no reviewed results for that run in this deck.</a:t>
            </a:r>
          </a:p>
          <a:p/>
          <a:p>
            <a:r>
              <a:t>Evidence / provenance:</a:t>
            </a:r>
          </a:p>
          <a:p>
            <a:r>
              <a:t>docs/experiments/clearance01_20261025_v1/clearance_evaluations.jsonl.</a:t>
            </a:r>
          </a:p>
          <a:p>
            <a:r>
              <a:t>Final scheduled mid-swing &gt;=20 mm: left 57.18%, right 71.43%; 0/12 fully qualified.</a:t>
            </a:r>
          </a:p>
          <a:p>
            <a:r>
              <a:t>report/data/clearance01/replay-summary.json: median complete-bout peaks 46.55/40.80 mm.</a:t>
            </a:r>
          </a:p>
          <a:p>
            <a:r>
              <a:t>docs/clearance02-experiment-report.md; job 3231747 submitted, no subsequent monitoring. Upper target is a soft cost, not a hard clamp.</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 seconds.</a:t>
            </a:r>
          </a:p>
          <a:p/>
          <a:p>
            <a:r>
              <a:t>Part 3: Objectives and timeline.</a:t>
            </a:r>
          </a:p>
          <a:p/>
          <a:p>
            <a:r>
              <a:t>Evidence / provenance:</a:t>
            </a:r>
          </a:p>
          <a:p>
            <a:r>
              <a:t>Section divider cloned from the corresponding part of Tim’s supplied deck, including navigation, layout and typography.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45 seconds.</a:t>
            </a:r>
          </a:p>
          <a:p/>
          <a:p>
            <a:r>
              <a:t>The demonstration plan has not changed. First, the robot starts from a defined position, reaches an upright stance and tolerates small disturbances. Then a START command enables walking, with joystick-style speed changes within a walking regime. Finally, STOP should decelerate the robot and lead to stable standing for at least five seconds. A simulation homing reset is not an automatic hardware startup controller, and current locomotion training has STOP disabled. The policy’s stop behavior is also separate from the emergency kill. These remain integration tasks that must be checked one transition at a time.</a:t>
            </a:r>
          </a:p>
          <a:p/>
          <a:p>
            <a:r>
              <a:t>Evidence / provenance:</a:t>
            </a:r>
          </a:p>
          <a:p>
            <a:r>
              <a:t>README.md: three-phase demo objective.</a:t>
            </a:r>
          </a:p>
          <a:p>
            <a:r>
              <a:t>docs/stop02-training-plan.md: braking and &gt;=5 s hold; historical model.</a:t>
            </a:r>
          </a:p>
          <a:p>
            <a:r>
              <a:t>report/architecture.md: homing reset versus startup; policy STOP versus safety kill.</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55 seconds.</a:t>
            </a:r>
          </a:p>
          <a:p/>
          <a:p>
            <a:r>
              <a:t>I do not want to postpone hardware testing until the simulator appears perfect. The immediate priority is the first short treadmill session, as soon as assembly, calibration and test support are ready with Tim. In parallel, simulation work continues on the clearance comparison and transition skills. Each hardware trial should produce a useful log: what command was sent, what motion and current were measured, and how the failure developed. We then reproduce the mismatch in simulation and retest. Before the event, we freeze and rehearse a tested sequence, keeping a fallback demonstration if a full autonomous stop is not reliable. The timeline is deliberately relative.</a:t>
            </a:r>
          </a:p>
          <a:p/>
          <a:p>
            <a:r>
              <a:t>Evidence / provenance:</a:t>
            </a:r>
          </a:p>
          <a:p>
            <a:r>
              <a:t>User direction: 8–10 minute talk and relative timeline; treadmill tests ASAP.</a:t>
            </a:r>
          </a:p>
          <a:p>
            <a:r>
              <a:t>README.md: original demo plan.</a:t>
            </a:r>
          </a:p>
          <a:p>
            <a:r>
              <a:t>Tim’s supplied slides: assembly/calibration/initial pose and test-support dependencies. Dates intentionally not copied to this relative plan.</a:t>
            </a:r>
          </a:p>
          <a:p>
            <a:r>
              <a:t>Proposed roadmap, not completed milestones or guaranteed dates.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 seconds.</a:t>
            </a:r>
          </a:p>
          <a:p/>
          <a:p>
            <a:r>
              <a:t>Part 4: Challenges.</a:t>
            </a:r>
          </a:p>
          <a:p/>
          <a:p>
            <a:r>
              <a:t>Evidence / provenance:</a:t>
            </a:r>
          </a:p>
          <a:p>
            <a:r>
              <a:t>Section divider cloned from the corresponding part of Tim’s supplied deck, including navigation, layout and typography.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55 seconds.</a:t>
            </a:r>
          </a:p>
          <a:p/>
          <a:p>
            <a:r>
              <a:t>The main difficulty is not just more training time. We know some likely sources of mismatch: contact friction and compliance, inertia, motor response, delay and state estimation. There is also an observability difference: the simulator can use contact for the gait clock, while the robot does not have that same contact signal. And we have already seen evaluation protocols produce different startup outcomes. Beyond these known suspects are the unknown unknowns that only the first real tests reveal. That is why early, short and instrumented treadmill trials are more useful now than trying to perfect every detail in simulation before touching hardware.</a:t>
            </a:r>
          </a:p>
          <a:p/>
          <a:p>
            <a:r>
              <a:t>Evidence / provenance:</a:t>
            </a:r>
          </a:p>
          <a:p>
            <a:r>
              <a:t>report/architecture.md: contact-based phase resynchronization versus free-running deployment.</a:t>
            </a:r>
          </a:p>
          <a:p>
            <a:r>
              <a:t>report/policy-transfer01.md: original-policy direct swap falls in 0.71–0.75 s.</a:t>
            </a:r>
          </a:p>
          <a:p>
            <a:r>
              <a:t>docs/flatfeet-symmetry-v1.md: contact-chatter symmetry blind spot and slip.</a:t>
            </a:r>
          </a:p>
          <a:p>
            <a:r>
              <a:t>docs/clearance01-experiment-report.md: replay discrepancy. Hardware mismatch items are hypotheses, not measured findings.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30 seconds.</a:t>
            </a:r>
          </a:p>
          <a:p/>
          <a:p>
            <a:r>
              <a:t>We now have a substantially better simulation baseline, and the foot-clearance experiments show that the robot can learn the missing swing motion. The next useful step is to test the real robot early, measure the gap and connect the individual skills into the original demonstration sequence. The most useful support is coordinated treadmill access with Tim, a repeatable setup and agreement on which demo behaviors to prioritize if time is tight. I have backup slides with the reward definitions, the standalone failure and exact evidence sources.</a:t>
            </a:r>
          </a:p>
          <a:p/>
          <a:p>
            <a:r>
              <a:t>Evidence / provenance:</a:t>
            </a:r>
          </a:p>
          <a:p>
            <a:r>
              <a:t>Evidence and limitations are documented in the preceding slides and report/README.md.</a:t>
            </a:r>
          </a:p>
          <a:p>
            <a:r>
              <a:t>Support requests and timeline are proposed next steps, not claims of completed deployment.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5 seconds.</a:t>
            </a:r>
          </a:p>
          <a:p/>
          <a:p>
            <a:r>
              <a:t>Thank you. I am happy to discuss the controller, the experimental results and the first treadmill tests.</a:t>
            </a:r>
          </a:p>
          <a:p/>
          <a:p>
            <a:r>
              <a:t>Evidence / provenance:</a:t>
            </a:r>
          </a:p>
          <a:p>
            <a:r>
              <a:t>Closing slide cloned from Tim’s supplied presentation; controller-specific subtitle.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0 seconds.</a:t>
            </a:r>
          </a:p>
          <a:p/>
          <a:p>
            <a:r>
              <a:t>Use if asked about reward design. The actor does not receive direct contact flags. Mid-stance flat support has a deliberately modest missing-support cost rather than a large bonus for remaining planted. Clearance penalties apply to scheduled swing even if the foot never leaves the ground, so dragging cannot avoid them. An upper-height penalty is a soft training objective, not a guaranteed kinematic bound. Known brief-contact history blind spots remain documented.</a:t>
            </a:r>
          </a:p>
          <a:p/>
          <a:p>
            <a:r>
              <a:t>Evidence / provenance:</a:t>
            </a:r>
          </a:p>
          <a:p>
            <a:r>
              <a:t>RLframework/flatfeet.py; RLframework/swing_clearance.py; RLframework/env.py.</a:t>
            </a:r>
          </a:p>
          <a:p>
            <a:r>
              <a:t>docs/clearance02-experiment-report.md; docs/flatfeet-symmetry-v1.md.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0 seconds.</a:t>
            </a:r>
          </a:p>
          <a:p/>
          <a:p>
            <a:r>
              <a:t>This video is retained explicitly to prevent overclaiming. The same checkpoint survives all twelve trials in an evaluation-style recording but fails in a separate one-environment pinned-command recording. Two protocol factors changed together, and small numerical differences can also matter; we have not isolated the cause. Do not state that the batch size caused the fall or that the successful evaluation proves robust startup. No auto-reset trajectory is spliced into this failure clip.</a:t>
            </a:r>
          </a:p>
          <a:p/>
          <a:p>
            <a:r>
              <a:t>Evidence / provenance:</a:t>
            </a:r>
          </a:p>
          <a:p>
            <a:r>
              <a:t>docs/experiments/clearance01_20261025_v1/clearance01_trace_standalone.json: 3.67 s, fall.</a:t>
            </a:r>
          </a:p>
          <a:p>
            <a:r>
              <a:t>docs/experiments/clearance01_20261025_v1/clearance01_trace_eval12.json: all 12 first episodes 25 s, 80 cycles per foot after warmup.</a:t>
            </a:r>
          </a:p>
          <a:p>
            <a:r>
              <a:t>report/videos/clearance01_standalone_1.50mps.mp4.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t>Suggested time: 0 seconds.</a:t>
            </a:r>
          </a:p>
          <a:p/>
          <a:p>
            <a:r>
              <a:t>Numbers are from locally archived results, not live training status. Speed statistics use saved best policies and the same nominal ladder. Clearance means use matched parent/final twelve-trial evaluation at 1.50 m/s; do not confuse airborne time means with mean peaks. Earlier standing results concern the previous robot. All training/evaluation results here remain simulation results.</a:t>
            </a:r>
          </a:p>
          <a:p/>
          <a:p>
            <a:r>
              <a:t>Evidence / provenance:</a:t>
            </a:r>
          </a:p>
          <a:p>
            <a:r>
              <a:t>docs/stop03-experiment-report.md; docs/walk01-experiment-report.md; docs/flatfeet-symmetry-v1.md.</a:t>
            </a:r>
          </a:p>
          <a:p>
            <a:r>
              <a:t>docs/clearance01-experiment-report.md; docs/clearance02-experiment-report.md.</a:t>
            </a:r>
          </a:p>
          <a:p>
            <a:r>
              <a:t>Full data/source references in speaker notes and sources.md.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7F4"/>
        </a:solidFill>
        <a:effectLst/>
      </p:bgPr>
    </p:bg>
    <p:spTree>
      <p:nvGrpSpPr>
        <p:cNvPr id="1" name=""/>
        <p:cNvGrpSpPr/>
        <p:nvPr/>
      </p:nvGrpSpPr>
      <p:grpSpPr>
        <a:xfrm>
          <a:off x="0" y="0"/>
          <a:ext cx="0" cy="0"/>
          <a:chOff x="0" y="0"/>
          <a:chExt cx="0" cy="0"/>
        </a:xfrm>
      </p:grpSpPr>
      <p:pic>
        <p:nvPicPr>
          <p:cNvPr id="2" name="Image 0" descr="/home/claude/deck/img/epfl_logo.png"/>
          <p:cNvPicPr>
            <a:picLocks noChangeAspect="1"/>
          </p:cNvPicPr>
          <p:nvPr/>
        </p:nvPicPr>
        <p:blipFill>
          <a:blip r:embed="rId2"/>
          <a:stretch>
            <a:fillRect/>
          </a:stretch>
        </p:blipFill>
        <p:spPr>
          <a:xfrm>
            <a:off x="10109200" y="304800"/>
            <a:ext cx="1270000" cy="368300"/>
          </a:xfrm>
          <a:prstGeom prst="rect">
            <a:avLst/>
          </a:prstGeom>
        </p:spPr>
      </p:pic>
      <p:sp>
        <p:nvSpPr>
          <p:cNvPr id="3" name="Text 0"/>
          <p:cNvSpPr/>
          <p:nvPr/>
        </p:nvSpPr>
        <p:spPr>
          <a:xfrm>
            <a:off x="812800" y="6032500"/>
            <a:ext cx="6985000" cy="381000"/>
          </a:xfrm>
          <a:prstGeom prst="rect">
            <a:avLst/>
          </a:prstGeom>
          <a:noFill/>
          <a:ln/>
        </p:spPr>
        <p:txBody>
          <a:bodyPr wrap="square" lIns="0" tIns="0" rIns="0" bIns="0" rtlCol="0" anchor="ctr"/>
          <a:lstStyle/>
          <a:p>
            <a:pPr marL="0" indent="0" algn="l">
              <a:buNone/>
            </a:pPr>
            <a:r>
              <a:rPr lang="en-US" sz="2000" dirty="0">
                <a:solidFill>
                  <a:srgbClr val="5A626D"/>
                </a:solidFill>
                <a:latin typeface="Arial" pitchFamily="34" charset="0"/>
                <a:ea typeface="Arial" pitchFamily="34" charset="-122"/>
                <a:cs typeface="Arial" pitchFamily="34" charset="-120"/>
              </a:rPr>
              <a:t>DASH-01 · Midterm update · REHAssist Lab</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5A626D"/>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6323F"/>
        </a:solidFill>
        <a:effectLst/>
      </p:bgPr>
    </p:bg>
    <p:spTree>
      <p:nvGrpSpPr>
        <p:cNvPr id="1" name=""/>
        <p:cNvGrpSpPr/>
        <p:nvPr/>
      </p:nvGrpSpPr>
      <p:grpSpPr>
        <a:xfrm>
          <a:off x="0" y="0"/>
          <a:ext cx="0" cy="0"/>
          <a:chOff x="0" y="0"/>
          <a:chExt cx="0" cy="0"/>
        </a:xfrm>
      </p:grpSpPr>
      <p:pic>
        <p:nvPicPr>
          <p:cNvPr id="2" name="Image 0" descr="/home/claude/deck/img/epfl_logo.png"/>
          <p:cNvPicPr>
            <a:picLocks noChangeAspect="1"/>
          </p:cNvPicPr>
          <p:nvPr/>
        </p:nvPicPr>
        <p:blipFill>
          <a:blip r:embed="rId2"/>
          <a:stretch>
            <a:fillRect/>
          </a:stretch>
        </p:blipFill>
        <p:spPr>
          <a:xfrm>
            <a:off x="10109200" y="304800"/>
            <a:ext cx="1270000" cy="368300"/>
          </a:xfrm>
          <a:prstGeom prst="rect">
            <a:avLst/>
          </a:prstGeom>
        </p:spPr>
      </p:pic>
      <p:sp>
        <p:nvSpPr>
          <p:cNvPr id="3" name="Text 0"/>
          <p:cNvSpPr/>
          <p:nvPr/>
        </p:nvSpPr>
        <p:spPr>
          <a:xfrm>
            <a:off x="812800" y="6032500"/>
            <a:ext cx="6985000" cy="381000"/>
          </a:xfrm>
          <a:prstGeom prst="rect">
            <a:avLst/>
          </a:prstGeom>
          <a:noFill/>
          <a:ln/>
        </p:spPr>
        <p:txBody>
          <a:bodyPr wrap="square" lIns="0" tIns="0" rIns="0" bIns="0" rtlCol="0" anchor="ctr"/>
          <a:lstStyle/>
          <a:p>
            <a:pPr marL="0" indent="0" algn="l">
              <a:buNone/>
            </a:pPr>
            <a:r>
              <a:rPr lang="en-US" sz="2000" dirty="0">
                <a:solidFill>
                  <a:srgbClr val="AEB6BF"/>
                </a:solidFill>
                <a:latin typeface="Arial" pitchFamily="34" charset="0"/>
                <a:ea typeface="Arial" pitchFamily="34" charset="-122"/>
                <a:cs typeface="Arial" pitchFamily="34" charset="-120"/>
              </a:rPr>
              <a:t>DASH-01 · Midterm update · REHAssist Lab</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AEB6BF"/>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26323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5A626D"/>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jp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4.jp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6.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8.jp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Image 0" descr="/home/claude/deck/img/epfl_logo.png"/>
          <p:cNvPicPr>
            <a:picLocks noChangeAspect="1"/>
          </p:cNvPicPr>
          <p:nvPr/>
        </p:nvPicPr>
        <p:blipFill>
          <a:blip r:embed="rId2"/>
          <a:stretch>
            <a:fillRect/>
          </a:stretch>
        </p:blipFill>
        <p:spPr>
          <a:xfrm>
            <a:off x="812800" y="812800"/>
            <a:ext cx="1778000" cy="514350"/>
          </a:xfrm>
          <a:prstGeom prst="rect">
            <a:avLst/>
          </a:prstGeom>
        </p:spPr>
      </p:pic>
      <p:pic>
        <p:nvPicPr>
          <p:cNvPr id="4" name="Image 1" descr="/home/claude/deck/img/nm13img-003.png"/>
          <p:cNvPicPr>
            <a:picLocks noChangeAspect="1"/>
          </p:cNvPicPr>
          <p:nvPr/>
        </p:nvPicPr>
        <p:blipFill>
          <a:blip r:embed="rId3"/>
          <a:stretch>
            <a:fillRect/>
          </a:stretch>
        </p:blipFill>
        <p:spPr>
          <a:xfrm>
            <a:off x="7829550" y="762000"/>
            <a:ext cx="3517900" cy="5334000"/>
          </a:xfrm>
          <a:prstGeom prst="rect">
            <a:avLst/>
          </a:prstGeom>
        </p:spPr>
      </p:pic>
      <p:sp>
        <p:nvSpPr>
          <p:cNvPr id="5" name="Text 0"/>
          <p:cNvSpPr txBox="1"/>
          <p:nvPr/>
        </p:nvSpPr>
        <p:spPr>
          <a:xfrm>
            <a:off x="812800" y="1587500"/>
            <a:ext cx="6350000" cy="1143000"/>
          </a:xfrm>
          <a:prstGeom prst="rect">
            <a:avLst/>
          </a:prstGeom>
          <a:noFill/>
          <a:ln/>
        </p:spPr>
        <p:txBody>
          <a:bodyPr wrap="square" lIns="0" tIns="0" rIns="0" bIns="0" rtlCol="0" anchor="ctr"/>
          <a:lstStyle/>
          <a:p>
            <a:pPr marL="0" indent="0" algn="l">
              <a:lnSpc>
                <a:spcPct val="100000"/>
              </a:lnSpc>
              <a:buNone/>
            </a:pPr>
            <a:r>
              <a:rPr lang="en-US" sz="8000" b="1" dirty="0">
                <a:solidFill>
                  <a:srgbClr val="F2F4F6"/>
                </a:solidFill>
                <a:latin typeface="Arial" pitchFamily="34" charset="0"/>
                <a:ea typeface="Arial" pitchFamily="34" charset="-122"/>
                <a:cs typeface="Arial" pitchFamily="34" charset="-120"/>
              </a:rPr>
              <a:t>DASH-01</a:t>
            </a:r>
            <a:endParaRPr lang="en-US" sz="8000" dirty="0"/>
          </a:p>
        </p:txBody>
      </p:sp>
      <p:sp>
        <p:nvSpPr>
          <p:cNvPr id="6" name="Shape 1"/>
          <p:cNvSpPr/>
          <p:nvPr/>
        </p:nvSpPr>
        <p:spPr>
          <a:xfrm>
            <a:off x="812800" y="2832100"/>
            <a:ext cx="1016000" cy="50800"/>
          </a:xfrm>
          <a:prstGeom prst="roundRect">
            <a:avLst>
              <a:gd name="adj" fmla="val 50000"/>
            </a:avLst>
          </a:prstGeom>
          <a:solidFill>
            <a:srgbClr val="E2001A"/>
          </a:solidFill>
          <a:ln/>
        </p:spPr>
        <p:txBody>
          <a:bodyPr/>
          <a:lstStyle/>
          <a:p>
            <a:endParaRPr lang="en-CH"/>
          </a:p>
        </p:txBody>
      </p:sp>
      <p:sp>
        <p:nvSpPr>
          <p:cNvPr id="7" name="Text 2"/>
          <p:cNvSpPr txBox="1"/>
          <p:nvPr/>
        </p:nvSpPr>
        <p:spPr>
          <a:xfrm>
            <a:off x="812800" y="3111500"/>
            <a:ext cx="6350000" cy="508000"/>
          </a:xfrm>
          <a:prstGeom prst="rect">
            <a:avLst/>
          </a:prstGeom>
          <a:noFill/>
          <a:ln/>
        </p:spPr>
        <p:txBody>
          <a:bodyPr wrap="square" lIns="0" tIns="0" rIns="0" bIns="0" rtlCol="0" anchor="t"/>
          <a:lstStyle/>
          <a:p>
            <a:pPr marL="0" indent="0" algn="l">
              <a:lnSpc>
                <a:spcPct val="100000"/>
              </a:lnSpc>
              <a:buNone/>
            </a:pPr>
            <a:r>
              <a:rPr lang="en-US" sz="2800" b="1" dirty="0">
                <a:solidFill>
                  <a:srgbClr val="F2F4F6"/>
                </a:solidFill>
                <a:latin typeface="Arial" pitchFamily="34" charset="0"/>
                <a:ea typeface="Arial" pitchFamily="34" charset="-122"/>
                <a:cs typeface="Arial" pitchFamily="34" charset="-120"/>
              </a:rPr>
              <a:t>Midterm Presentation · Controller</a:t>
            </a:r>
            <a:endParaRPr lang="en-US" sz="2800" dirty="0"/>
          </a:p>
        </p:txBody>
      </p:sp>
      <p:sp>
        <p:nvSpPr>
          <p:cNvPr id="8" name="Text 3"/>
          <p:cNvSpPr txBox="1"/>
          <p:nvPr/>
        </p:nvSpPr>
        <p:spPr>
          <a:xfrm>
            <a:off x="812800" y="3810000"/>
            <a:ext cx="6350000" cy="698500"/>
          </a:xfrm>
          <a:prstGeom prst="rect">
            <a:avLst/>
          </a:prstGeom>
          <a:noFill/>
          <a:ln/>
        </p:spPr>
        <p:txBody>
          <a:bodyPr wrap="square" lIns="0" tIns="0" rIns="0" bIns="0" rtlCol="0" anchor="t"/>
          <a:lstStyle/>
          <a:p>
            <a:pPr marL="0" indent="0" algn="l">
              <a:lnSpc>
                <a:spcPct val="110000"/>
              </a:lnSpc>
              <a:buNone/>
            </a:pPr>
            <a:r>
              <a:rPr lang="en-US" sz="2000" dirty="0">
                <a:solidFill>
                  <a:srgbClr val="AEB6BF"/>
                </a:solidFill>
                <a:latin typeface="Arial" pitchFamily="34" charset="0"/>
                <a:ea typeface="Arial" pitchFamily="34" charset="-122"/>
                <a:cs typeface="Arial" pitchFamily="34" charset="-120"/>
              </a:rPr>
              <a:t>Léo-Paul Rizkallah</a:t>
            </a:r>
            <a:endParaRPr lang="en-US" sz="2000" dirty="0"/>
          </a:p>
        </p:txBody>
      </p:sp>
      <p:sp>
        <p:nvSpPr>
          <p:cNvPr id="9" name="Text 4"/>
          <p:cNvSpPr txBox="1"/>
          <p:nvPr/>
        </p:nvSpPr>
        <p:spPr>
          <a:xfrm>
            <a:off x="812800" y="4572000"/>
            <a:ext cx="6350000" cy="698500"/>
          </a:xfrm>
          <a:prstGeom prst="rect">
            <a:avLst/>
          </a:prstGeom>
          <a:noFill/>
          <a:ln/>
        </p:spPr>
        <p:txBody>
          <a:bodyPr wrap="square" lIns="0" tIns="0" rIns="0" bIns="0" rtlCol="0" anchor="t"/>
          <a:lstStyle/>
          <a:p>
            <a:pPr marL="0" indent="0" algn="l">
              <a:lnSpc>
                <a:spcPct val="110000"/>
              </a:lnSpc>
              <a:buNone/>
            </a:pPr>
            <a:r>
              <a:rPr lang="en-US" sz="2000" dirty="0">
                <a:solidFill>
                  <a:srgbClr val="AEB6BF"/>
                </a:solidFill>
                <a:latin typeface="Arial" pitchFamily="34" charset="0"/>
                <a:ea typeface="Arial" pitchFamily="34" charset="-122"/>
                <a:cs typeface="Arial" pitchFamily="34" charset="-120"/>
              </a:rPr>
              <a:t>REHAssist Lab  </a:t>
            </a:r>
          </a:p>
          <a:p>
            <a:pPr marL="0" indent="0" algn="l">
              <a:lnSpc>
                <a:spcPct val="110000"/>
              </a:lnSpc>
              <a:buNone/>
            </a:pPr>
            <a:r>
              <a:rPr lang="en-US" sz="2000" dirty="0">
                <a:solidFill>
                  <a:srgbClr val="AEB6BF"/>
                </a:solidFill>
                <a:latin typeface="Arial" pitchFamily="34" charset="0"/>
                <a:ea typeface="Arial" pitchFamily="34" charset="-122"/>
                <a:cs typeface="Arial" pitchFamily="34" charset="-120"/>
              </a:rPr>
              <a:t>Professor: Mohamed Bouri · Supervisor: Sara Messara</a:t>
            </a:r>
            <a:endParaRPr lang="en-US" sz="2000" dirty="0"/>
          </a:p>
        </p:txBody>
      </p:sp>
      <p:sp>
        <p:nvSpPr>
          <p:cNvPr id="10" name="Text 5"/>
          <p:cNvSpPr txBox="1"/>
          <p:nvPr/>
        </p:nvSpPr>
        <p:spPr>
          <a:xfrm>
            <a:off x="812800" y="5334000"/>
            <a:ext cx="6350000" cy="381000"/>
          </a:xfrm>
          <a:prstGeom prst="rect">
            <a:avLst/>
          </a:prstGeom>
          <a:noFill/>
          <a:ln/>
        </p:spPr>
        <p:txBody>
          <a:bodyPr wrap="square" lIns="0" tIns="0" rIns="0" bIns="0" rtlCol="0" anchor="t"/>
          <a:lstStyle/>
          <a:p>
            <a:pPr marL="0" indent="0" algn="l">
              <a:lnSpc>
                <a:spcPct val="100000"/>
              </a:lnSpc>
              <a:buNone/>
            </a:pPr>
            <a:r>
              <a:rPr lang="en-US" sz="2000" dirty="0">
                <a:solidFill>
                  <a:srgbClr val="AEB6BF"/>
                </a:solidFill>
                <a:latin typeface="Arial" pitchFamily="34" charset="0"/>
                <a:ea typeface="Arial" pitchFamily="34" charset="-122"/>
                <a:cs typeface="Arial" pitchFamily="34" charset="-120"/>
              </a:rPr>
              <a:t>October 29, 2026</a:t>
            </a:r>
            <a:endParaRPr lang="en-US" sz="2000" dirty="0"/>
          </a:p>
        </p:txBody>
      </p:sp>
      <p:sp>
        <p:nvSpPr>
          <p:cNvPr id="11" name="TextBox 10"/>
          <p:cNvSpPr txBox="1"/>
          <p:nvPr/>
        </p:nvSpPr>
        <p:spPr>
          <a:xfrm>
            <a:off x="812901" y="5852160"/>
            <a:ext cx="6349593" cy="256032"/>
          </a:xfrm>
          <a:prstGeom prst="rect">
            <a:avLst/>
          </a:prstGeom>
          <a:noFill/>
        </p:spPr>
        <p:txBody>
          <a:bodyPr wrap="square" lIns="0" rIns="0" tIns="0" bIns="0">
            <a:spAutoFit/>
          </a:bodyPr>
          <a:lstStyle/>
          <a:p>
            <a:pPr>
              <a:spcAft>
                <a:spcPts val="700"/>
              </a:spcAft>
              <a:defRPr sz="1400" b="0">
                <a:solidFill>
                  <a:srgbClr val="AEB6BF"/>
                </a:solidFill>
                <a:latin typeface="Arial"/>
              </a:defRPr>
            </a:pPr>
            <a:r>
              <a:t>Results reviewed 26 October 2026</a:t>
            </a:r>
          </a:p>
        </p:txBody>
      </p:sp>
      <p:sp>
        <p:nvSpPr>
          <p:cNvPr id="12" name="TextBox 11"/>
          <p:cNvSpPr txBox="1"/>
          <p:nvPr/>
        </p:nvSpPr>
        <p:spPr>
          <a:xfrm>
            <a:off x="7829092" y="6236208"/>
            <a:ext cx="3517696" cy="228600"/>
          </a:xfrm>
          <a:prstGeom prst="rect">
            <a:avLst/>
          </a:prstGeom>
          <a:noFill/>
        </p:spPr>
        <p:txBody>
          <a:bodyPr wrap="square" lIns="0" rIns="0" tIns="0" bIns="0">
            <a:spAutoFit/>
          </a:bodyPr>
          <a:lstStyle/>
          <a:p>
            <a:pPr>
              <a:spcAft>
                <a:spcPts val="700"/>
              </a:spcAft>
              <a:defRPr sz="1100" b="0">
                <a:solidFill>
                  <a:srgbClr val="AEB6BF"/>
                </a:solidFill>
                <a:latin typeface="Arial"/>
              </a:defRPr>
            </a:pPr>
            <a:r>
              <a:t>Previous robot iteration - photo from Tim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Outline</a:t>
            </a:r>
            <a:endParaRPr lang="en-US" sz="3600" dirty="0"/>
          </a:p>
        </p:txBody>
      </p:sp>
      <p:sp>
        <p:nvSpPr>
          <p:cNvPr id="4" name="Text 1"/>
          <p:cNvSpPr txBox="1"/>
          <p:nvPr/>
        </p:nvSpPr>
        <p:spPr>
          <a:xfrm>
            <a:off x="812800" y="1778000"/>
            <a:ext cx="635000" cy="698500"/>
          </a:xfrm>
          <a:prstGeom prst="rect">
            <a:avLst/>
          </a:prstGeom>
          <a:noFill/>
          <a:ln/>
        </p:spPr>
        <p:txBody>
          <a:bodyPr wrap="square" lIns="0" tIns="0" rIns="0" bIns="0" rtlCol="0" anchor="ctr"/>
          <a:lstStyle/>
          <a:p>
            <a:pPr marL="0" indent="0" algn="l">
              <a:lnSpc>
                <a:spcPct val="100000"/>
              </a:lnSpc>
              <a:buNone/>
            </a:pPr>
            <a:r>
              <a:rPr lang="en-US" sz="4000" b="1" dirty="0">
                <a:solidFill>
                  <a:srgbClr val="E2001A"/>
                </a:solidFill>
                <a:latin typeface="Arial" pitchFamily="34" charset="0"/>
                <a:ea typeface="Arial" pitchFamily="34" charset="-122"/>
                <a:cs typeface="Arial" pitchFamily="34" charset="-120"/>
              </a:rPr>
              <a:t>1</a:t>
            </a:r>
            <a:endParaRPr lang="en-US" sz="4000" dirty="0"/>
          </a:p>
        </p:txBody>
      </p:sp>
      <p:sp>
        <p:nvSpPr>
          <p:cNvPr id="5" name="Text 2"/>
          <p:cNvSpPr txBox="1"/>
          <p:nvPr/>
        </p:nvSpPr>
        <p:spPr>
          <a:xfrm>
            <a:off x="1714500" y="1778000"/>
            <a:ext cx="9525000" cy="444500"/>
          </a:xfrm>
          <a:prstGeom prst="rect">
            <a:avLst/>
          </a:prstGeom>
          <a:noFill/>
          <a:ln/>
        </p:spPr>
        <p:txBody>
          <a:bodyPr wrap="square" lIns="0" tIns="0" rIns="0" bIns="0" rtlCol="0" anchor="t"/>
          <a:lstStyle/>
          <a:p>
            <a:pPr marL="0" indent="0" algn="l">
              <a:lnSpc>
                <a:spcPct val="100000"/>
              </a:lnSpc>
              <a:buNone/>
            </a:pPr>
            <a:r>
              <a:rPr lang="en-US" sz="2800" b="1" dirty="0">
                <a:solidFill>
                  <a:srgbClr val="1B2028"/>
                </a:solidFill>
                <a:latin typeface="Arial" pitchFamily="34" charset="0"/>
                <a:ea typeface="Arial" pitchFamily="34" charset="-122"/>
                <a:cs typeface="Arial" pitchFamily="34" charset="-120"/>
              </a:rPr>
              <a:t>Context</a:t>
            </a:r>
            <a:endParaRPr lang="en-US" sz="2800" dirty="0"/>
          </a:p>
        </p:txBody>
      </p:sp>
      <p:sp>
        <p:nvSpPr>
          <p:cNvPr id="6" name="Text 3"/>
          <p:cNvSpPr txBox="1"/>
          <p:nvPr/>
        </p:nvSpPr>
        <p:spPr>
          <a:xfrm>
            <a:off x="1714500" y="2235200"/>
            <a:ext cx="9525000" cy="355600"/>
          </a:xfrm>
          <a:prstGeom prst="rect">
            <a:avLst/>
          </a:prstGeom>
          <a:noFill/>
          <a:ln/>
        </p:spPr>
        <p:txBody>
          <a:bodyPr wrap="square" lIns="0" tIns="0" rIns="0" bIns="0" rtlCol="0" anchor="t"/>
          <a:lstStyle/>
          <a:p>
            <a:pPr marL="0" indent="0" algn="l">
              <a:lnSpc>
                <a:spcPct val="100000"/>
              </a:lnSpc>
              <a:buNone/>
            </a:pPr>
            <a:r>
              <a:rPr lang="en-US" sz="2000" dirty="0">
                <a:solidFill>
                  <a:srgbClr val="5A626D"/>
                </a:solidFill>
                <a:latin typeface="Arial" pitchFamily="34" charset="0"/>
                <a:ea typeface="Arial" pitchFamily="34" charset="-122"/>
                <a:cs typeface="Arial" pitchFamily="34" charset="-120"/>
              </a:rPr>
              <a:t>Existing controller · Semester goal · Starting point</a:t>
            </a:r>
            <a:endParaRPr lang="en-US" sz="2000" dirty="0"/>
          </a:p>
        </p:txBody>
      </p:sp>
      <p:sp>
        <p:nvSpPr>
          <p:cNvPr id="7" name="Text 4"/>
          <p:cNvSpPr txBox="1"/>
          <p:nvPr/>
        </p:nvSpPr>
        <p:spPr>
          <a:xfrm>
            <a:off x="812800" y="2825750"/>
            <a:ext cx="635000" cy="698500"/>
          </a:xfrm>
          <a:prstGeom prst="rect">
            <a:avLst/>
          </a:prstGeom>
          <a:noFill/>
          <a:ln/>
        </p:spPr>
        <p:txBody>
          <a:bodyPr wrap="square" lIns="0" tIns="0" rIns="0" bIns="0" rtlCol="0" anchor="ctr"/>
          <a:lstStyle/>
          <a:p>
            <a:pPr marL="0" indent="0" algn="l">
              <a:lnSpc>
                <a:spcPct val="100000"/>
              </a:lnSpc>
              <a:buNone/>
            </a:pPr>
            <a:r>
              <a:rPr lang="en-US" sz="4000" b="1" dirty="0">
                <a:solidFill>
                  <a:srgbClr val="E2001A"/>
                </a:solidFill>
                <a:latin typeface="Arial" pitchFamily="34" charset="0"/>
                <a:ea typeface="Arial" pitchFamily="34" charset="-122"/>
                <a:cs typeface="Arial" pitchFamily="34" charset="-120"/>
              </a:rPr>
              <a:t>2</a:t>
            </a:r>
            <a:endParaRPr lang="en-US" sz="4000" dirty="0"/>
          </a:p>
        </p:txBody>
      </p:sp>
      <p:sp>
        <p:nvSpPr>
          <p:cNvPr id="8" name="Text 5"/>
          <p:cNvSpPr txBox="1"/>
          <p:nvPr/>
        </p:nvSpPr>
        <p:spPr>
          <a:xfrm>
            <a:off x="1714500" y="2825750"/>
            <a:ext cx="9525000" cy="444500"/>
          </a:xfrm>
          <a:prstGeom prst="rect">
            <a:avLst/>
          </a:prstGeom>
          <a:noFill/>
          <a:ln/>
        </p:spPr>
        <p:txBody>
          <a:bodyPr wrap="square" lIns="0" tIns="0" rIns="0" bIns="0" rtlCol="0" anchor="t"/>
          <a:lstStyle/>
          <a:p>
            <a:pPr marL="0" indent="0" algn="l">
              <a:lnSpc>
                <a:spcPct val="100000"/>
              </a:lnSpc>
              <a:buNone/>
            </a:pPr>
            <a:r>
              <a:rPr lang="en-US" sz="2800" b="1" dirty="0">
                <a:solidFill>
                  <a:srgbClr val="1B2028"/>
                </a:solidFill>
                <a:latin typeface="Arial" pitchFamily="34" charset="0"/>
                <a:ea typeface="Arial" pitchFamily="34" charset="-122"/>
                <a:cs typeface="Arial" pitchFamily="34" charset="-120"/>
              </a:rPr>
              <a:t>What was done</a:t>
            </a:r>
            <a:endParaRPr lang="en-US" sz="2800" dirty="0"/>
          </a:p>
        </p:txBody>
      </p:sp>
      <p:sp>
        <p:nvSpPr>
          <p:cNvPr id="9" name="Text 6"/>
          <p:cNvSpPr txBox="1"/>
          <p:nvPr/>
        </p:nvSpPr>
        <p:spPr>
          <a:xfrm>
            <a:off x="1714500" y="3282950"/>
            <a:ext cx="9525000" cy="355600"/>
          </a:xfrm>
          <a:prstGeom prst="rect">
            <a:avLst/>
          </a:prstGeom>
          <a:noFill/>
          <a:ln/>
        </p:spPr>
        <p:txBody>
          <a:bodyPr wrap="square" lIns="0" tIns="0" rIns="0" bIns="0" rtlCol="0" anchor="t"/>
          <a:lstStyle/>
          <a:p>
            <a:pPr marL="0" indent="0" algn="l">
              <a:lnSpc>
                <a:spcPct val="100000"/>
              </a:lnSpc>
              <a:buNone/>
            </a:pPr>
            <a:r>
              <a:rPr lang="en-US" sz="2000" dirty="0">
                <a:solidFill>
                  <a:srgbClr val="5A626D"/>
                </a:solidFill>
                <a:latin typeface="Arial" pitchFamily="34" charset="0"/>
                <a:ea typeface="Arial" pitchFamily="34" charset="-122"/>
                <a:cs typeface="Arial" pitchFamily="34" charset="-120"/>
              </a:rPr>
              <a:t>Controller · Learning · Gait · Results</a:t>
            </a:r>
            <a:endParaRPr lang="en-US" sz="2000" dirty="0"/>
          </a:p>
        </p:txBody>
      </p:sp>
      <p:sp>
        <p:nvSpPr>
          <p:cNvPr id="10" name="Text 7"/>
          <p:cNvSpPr txBox="1"/>
          <p:nvPr/>
        </p:nvSpPr>
        <p:spPr>
          <a:xfrm>
            <a:off x="812800" y="3873500"/>
            <a:ext cx="635000" cy="698500"/>
          </a:xfrm>
          <a:prstGeom prst="rect">
            <a:avLst/>
          </a:prstGeom>
          <a:noFill/>
          <a:ln/>
        </p:spPr>
        <p:txBody>
          <a:bodyPr wrap="square" lIns="0" tIns="0" rIns="0" bIns="0" rtlCol="0" anchor="ctr"/>
          <a:lstStyle/>
          <a:p>
            <a:pPr marL="0" indent="0" algn="l">
              <a:lnSpc>
                <a:spcPct val="100000"/>
              </a:lnSpc>
              <a:buNone/>
            </a:pPr>
            <a:r>
              <a:rPr lang="en-US" sz="4000" b="1" dirty="0">
                <a:solidFill>
                  <a:srgbClr val="E2001A"/>
                </a:solidFill>
                <a:latin typeface="Arial" pitchFamily="34" charset="0"/>
                <a:ea typeface="Arial" pitchFamily="34" charset="-122"/>
                <a:cs typeface="Arial" pitchFamily="34" charset="-120"/>
              </a:rPr>
              <a:t>3</a:t>
            </a:r>
            <a:endParaRPr lang="en-US" sz="4000" dirty="0"/>
          </a:p>
        </p:txBody>
      </p:sp>
      <p:sp>
        <p:nvSpPr>
          <p:cNvPr id="11" name="Text 8"/>
          <p:cNvSpPr txBox="1"/>
          <p:nvPr/>
        </p:nvSpPr>
        <p:spPr>
          <a:xfrm>
            <a:off x="1714500" y="3873500"/>
            <a:ext cx="9525000" cy="444500"/>
          </a:xfrm>
          <a:prstGeom prst="rect">
            <a:avLst/>
          </a:prstGeom>
          <a:noFill/>
          <a:ln/>
        </p:spPr>
        <p:txBody>
          <a:bodyPr wrap="square" lIns="0" tIns="0" rIns="0" bIns="0" rtlCol="0" anchor="t"/>
          <a:lstStyle/>
          <a:p>
            <a:pPr marL="0" indent="0" algn="l">
              <a:lnSpc>
                <a:spcPct val="100000"/>
              </a:lnSpc>
              <a:buNone/>
            </a:pPr>
            <a:r>
              <a:rPr lang="en-US" sz="2800" b="1" dirty="0">
                <a:solidFill>
                  <a:srgbClr val="1B2028"/>
                </a:solidFill>
                <a:latin typeface="Arial" pitchFamily="34" charset="0"/>
                <a:ea typeface="Arial" pitchFamily="34" charset="-122"/>
                <a:cs typeface="Arial" pitchFamily="34" charset="-120"/>
              </a:rPr>
              <a:t>Objectives and timeline</a:t>
            </a:r>
            <a:endParaRPr lang="en-US" sz="2800" dirty="0"/>
          </a:p>
        </p:txBody>
      </p:sp>
      <p:sp>
        <p:nvSpPr>
          <p:cNvPr id="12" name="Text 9"/>
          <p:cNvSpPr txBox="1"/>
          <p:nvPr/>
        </p:nvSpPr>
        <p:spPr>
          <a:xfrm>
            <a:off x="1714500" y="4330700"/>
            <a:ext cx="9525000" cy="355600"/>
          </a:xfrm>
          <a:prstGeom prst="rect">
            <a:avLst/>
          </a:prstGeom>
          <a:noFill/>
          <a:ln/>
        </p:spPr>
        <p:txBody>
          <a:bodyPr wrap="square" lIns="0" tIns="0" rIns="0" bIns="0" rtlCol="0" anchor="t"/>
          <a:lstStyle/>
          <a:p>
            <a:pPr marL="0" indent="0" algn="l">
              <a:lnSpc>
                <a:spcPct val="100000"/>
              </a:lnSpc>
              <a:buNone/>
            </a:pPr>
            <a:r>
              <a:rPr lang="en-US" sz="2000" dirty="0">
                <a:solidFill>
                  <a:srgbClr val="5A626D"/>
                </a:solidFill>
                <a:latin typeface="Arial" pitchFamily="34" charset="0"/>
                <a:ea typeface="Arial" pitchFamily="34" charset="-122"/>
                <a:cs typeface="Arial" pitchFamily="34" charset="-120"/>
              </a:rPr>
              <a:t>Demo sequence · Early treadmill tests</a:t>
            </a:r>
            <a:endParaRPr lang="en-US" sz="2000" dirty="0"/>
          </a:p>
        </p:txBody>
      </p:sp>
      <p:sp>
        <p:nvSpPr>
          <p:cNvPr id="13" name="Text 10"/>
          <p:cNvSpPr txBox="1"/>
          <p:nvPr/>
        </p:nvSpPr>
        <p:spPr>
          <a:xfrm>
            <a:off x="812800" y="4921250"/>
            <a:ext cx="635000" cy="698500"/>
          </a:xfrm>
          <a:prstGeom prst="rect">
            <a:avLst/>
          </a:prstGeom>
          <a:noFill/>
          <a:ln/>
        </p:spPr>
        <p:txBody>
          <a:bodyPr wrap="square" lIns="0" tIns="0" rIns="0" bIns="0" rtlCol="0" anchor="ctr"/>
          <a:lstStyle/>
          <a:p>
            <a:pPr marL="0" indent="0" algn="l">
              <a:lnSpc>
                <a:spcPct val="100000"/>
              </a:lnSpc>
              <a:buNone/>
            </a:pPr>
            <a:r>
              <a:rPr lang="en-US" sz="4000" b="1" dirty="0">
                <a:solidFill>
                  <a:srgbClr val="E2001A"/>
                </a:solidFill>
                <a:latin typeface="Arial" pitchFamily="34" charset="0"/>
                <a:ea typeface="Arial" pitchFamily="34" charset="-122"/>
                <a:cs typeface="Arial" pitchFamily="34" charset="-120"/>
              </a:rPr>
              <a:t>4</a:t>
            </a:r>
            <a:endParaRPr lang="en-US" sz="4000" dirty="0"/>
          </a:p>
        </p:txBody>
      </p:sp>
      <p:sp>
        <p:nvSpPr>
          <p:cNvPr id="14" name="Text 11"/>
          <p:cNvSpPr txBox="1"/>
          <p:nvPr/>
        </p:nvSpPr>
        <p:spPr>
          <a:xfrm>
            <a:off x="1714500" y="4921250"/>
            <a:ext cx="9525000" cy="444500"/>
          </a:xfrm>
          <a:prstGeom prst="rect">
            <a:avLst/>
          </a:prstGeom>
          <a:noFill/>
          <a:ln/>
        </p:spPr>
        <p:txBody>
          <a:bodyPr wrap="square" lIns="0" tIns="0" rIns="0" bIns="0" rtlCol="0" anchor="t"/>
          <a:lstStyle/>
          <a:p>
            <a:pPr marL="0" indent="0" algn="l">
              <a:lnSpc>
                <a:spcPct val="100000"/>
              </a:lnSpc>
              <a:buNone/>
            </a:pPr>
            <a:r>
              <a:rPr lang="en-US" sz="2800" b="1" dirty="0">
                <a:solidFill>
                  <a:srgbClr val="1B2028"/>
                </a:solidFill>
                <a:latin typeface="Arial" pitchFamily="34" charset="0"/>
                <a:ea typeface="Arial" pitchFamily="34" charset="-122"/>
                <a:cs typeface="Arial" pitchFamily="34" charset="-120"/>
              </a:rPr>
              <a:t>Challenges</a:t>
            </a:r>
            <a:endParaRPr lang="en-US" sz="2800" dirty="0"/>
          </a:p>
        </p:txBody>
      </p:sp>
      <p:sp>
        <p:nvSpPr>
          <p:cNvPr id="15" name="Text 12"/>
          <p:cNvSpPr txBox="1"/>
          <p:nvPr/>
        </p:nvSpPr>
        <p:spPr>
          <a:xfrm>
            <a:off x="1714500" y="5378450"/>
            <a:ext cx="9525000" cy="355600"/>
          </a:xfrm>
          <a:prstGeom prst="rect">
            <a:avLst/>
          </a:prstGeom>
          <a:noFill/>
          <a:ln/>
        </p:spPr>
        <p:txBody>
          <a:bodyPr wrap="square" lIns="0" tIns="0" rIns="0" bIns="0" rtlCol="0" anchor="t"/>
          <a:lstStyle/>
          <a:p>
            <a:pPr marL="0" indent="0" algn="l">
              <a:lnSpc>
                <a:spcPct val="100000"/>
              </a:lnSpc>
              <a:buNone/>
            </a:pPr>
            <a:r>
              <a:rPr lang="en-US" sz="2000" dirty="0">
                <a:solidFill>
                  <a:srgbClr val="5A626D"/>
                </a:solidFill>
                <a:latin typeface="Arial" pitchFamily="34" charset="0"/>
                <a:ea typeface="Arial" pitchFamily="34" charset="-122"/>
                <a:cs typeface="Arial" pitchFamily="34" charset="-120"/>
              </a:rPr>
              <a:t>Sim-to-real gap · Unknown unknowns</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5A626D"/>
                </a:solidFill>
                <a:latin typeface="Arial"/>
                <a:ea typeface="Arial"/>
                <a:cs typeface="Arial"/>
              </a:defRPr>
            </a:lvl1pPr>
          </a:lstStyle>
          <a:p>
            <a:pPr algn="r"/>
            <a:r>
              <a:t>2</a:t>
            </a:r>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2286000"/>
            <a:ext cx="10566400" cy="355600"/>
          </a:xfrm>
          <a:prstGeom prst="rect">
            <a:avLst/>
          </a:prstGeom>
          <a:noFill/>
          <a:ln/>
        </p:spPr>
        <p:txBody>
          <a:bodyPr wrap="square" lIns="0" tIns="0" rIns="0" bIns="0" rtlCol="0" anchor="t"/>
          <a:lstStyle/>
          <a:p>
            <a:pPr marL="0" indent="0" algn="l">
              <a:lnSpc>
                <a:spcPct val="100000"/>
              </a:lnSpc>
              <a:buNone/>
            </a:pPr>
            <a:r>
              <a:rPr lang="en-US" sz="2000" b="1" dirty="0">
                <a:solidFill>
                  <a:srgbClr val="FF5A6A"/>
                </a:solidFill>
                <a:latin typeface="Arial" pitchFamily="34" charset="0"/>
                <a:ea typeface="Arial" pitchFamily="34" charset="-122"/>
                <a:cs typeface="Arial" pitchFamily="34" charset="-120"/>
              </a:rPr>
              <a:t>PART 1</a:t>
            </a:r>
            <a:endParaRPr lang="en-US" sz="2000" dirty="0"/>
          </a:p>
        </p:txBody>
      </p:sp>
      <p:sp>
        <p:nvSpPr>
          <p:cNvPr id="4" name="Text 1"/>
          <p:cNvSpPr txBox="1"/>
          <p:nvPr/>
        </p:nvSpPr>
        <p:spPr>
          <a:xfrm>
            <a:off x="812800" y="2667000"/>
            <a:ext cx="10566400" cy="952500"/>
          </a:xfrm>
          <a:prstGeom prst="rect">
            <a:avLst/>
          </a:prstGeom>
          <a:noFill/>
          <a:ln/>
        </p:spPr>
        <p:txBody>
          <a:bodyPr wrap="square" lIns="0" tIns="0" rIns="0" bIns="0" rtlCol="0" anchor="ctr"/>
          <a:lstStyle/>
          <a:p>
            <a:pPr marL="0" indent="0" algn="l">
              <a:lnSpc>
                <a:spcPct val="100000"/>
              </a:lnSpc>
              <a:buNone/>
            </a:pPr>
            <a:r>
              <a:rPr lang="en-US" sz="6000" b="1" dirty="0">
                <a:solidFill>
                  <a:srgbClr val="F2F4F6"/>
                </a:solidFill>
                <a:latin typeface="Arial" pitchFamily="34" charset="0"/>
                <a:ea typeface="Arial" pitchFamily="34" charset="-122"/>
                <a:cs typeface="Arial" pitchFamily="34" charset="-120"/>
              </a:rPr>
              <a:t>Context</a:t>
            </a:r>
            <a:endParaRPr lang="en-US" sz="6000" dirty="0"/>
          </a:p>
        </p:txBody>
      </p:sp>
      <p:sp>
        <p:nvSpPr>
          <p:cNvPr id="5" name="Text 2"/>
          <p:cNvSpPr txBox="1"/>
          <p:nvPr/>
        </p:nvSpPr>
        <p:spPr>
          <a:xfrm>
            <a:off x="812800" y="3746500"/>
            <a:ext cx="10566400" cy="444500"/>
          </a:xfrm>
          <a:prstGeom prst="rect">
            <a:avLst/>
          </a:prstGeom>
          <a:noFill/>
          <a:ln/>
        </p:spPr>
        <p:txBody>
          <a:bodyPr wrap="square" lIns="0" tIns="0" rIns="0" bIns="0" rtlCol="0" anchor="t"/>
          <a:lstStyle/>
          <a:p>
            <a:pPr marL="0" indent="0" algn="l">
              <a:lnSpc>
                <a:spcPct val="100000"/>
              </a:lnSpc>
              <a:buNone/>
            </a:pPr>
            <a:r>
              <a:rPr lang="en-US" sz="2400" dirty="0">
                <a:solidFill>
                  <a:srgbClr val="AEB6BF"/>
                </a:solidFill>
                <a:latin typeface="Arial" pitchFamily="34" charset="0"/>
                <a:ea typeface="Arial" pitchFamily="34" charset="-122"/>
                <a:cs typeface="Arial" pitchFamily="34" charset="-120"/>
              </a:rPr>
              <a:t>Existing controller · Semester goal · Starting point</a:t>
            </a:r>
            <a:endParaRPr lang="en-US" sz="2400" dirty="0"/>
          </a:p>
        </p:txBody>
      </p:sp>
      <p:sp>
        <p:nvSpPr>
          <p:cNvPr id="6" name="Shape 3"/>
          <p:cNvSpPr/>
          <p:nvPr/>
        </p:nvSpPr>
        <p:spPr>
          <a:xfrm>
            <a:off x="812800" y="4953000"/>
            <a:ext cx="2489200" cy="38100"/>
          </a:xfrm>
          <a:prstGeom prst="roundRect">
            <a:avLst>
              <a:gd name="adj" fmla="val 50000"/>
            </a:avLst>
          </a:prstGeom>
          <a:solidFill>
            <a:srgbClr val="E2001A"/>
          </a:solidFill>
          <a:ln/>
        </p:spPr>
        <p:txBody>
          <a:bodyPr/>
          <a:lstStyle/>
          <a:p>
            <a:endParaRPr lang="en-CH"/>
          </a:p>
        </p:txBody>
      </p:sp>
      <p:sp>
        <p:nvSpPr>
          <p:cNvPr id="7" name="Text 4"/>
          <p:cNvSpPr txBox="1"/>
          <p:nvPr/>
        </p:nvSpPr>
        <p:spPr>
          <a:xfrm>
            <a:off x="812800" y="5118100"/>
            <a:ext cx="2489200" cy="698500"/>
          </a:xfrm>
          <a:prstGeom prst="rect">
            <a:avLst/>
          </a:prstGeom>
          <a:noFill/>
          <a:ln/>
        </p:spPr>
        <p:txBody>
          <a:bodyPr wrap="square" lIns="0" tIns="0" rIns="0" bIns="0" rtlCol="0" anchor="t"/>
          <a:lstStyle/>
          <a:p>
            <a:pPr marL="0" indent="0" algn="l">
              <a:lnSpc>
                <a:spcPct val="100000"/>
              </a:lnSpc>
              <a:buNone/>
            </a:pPr>
            <a:r>
              <a:rPr lang="en-US" sz="2000" b="1" dirty="0">
                <a:solidFill>
                  <a:srgbClr val="F2F4F6"/>
                </a:solidFill>
                <a:latin typeface="Arial" pitchFamily="34" charset="0"/>
                <a:ea typeface="Arial" pitchFamily="34" charset="-122"/>
                <a:cs typeface="Arial" pitchFamily="34" charset="-120"/>
              </a:rPr>
              <a:t>1. Context</a:t>
            </a:r>
            <a:endParaRPr lang="en-US" sz="2000" dirty="0"/>
          </a:p>
        </p:txBody>
      </p:sp>
      <p:sp>
        <p:nvSpPr>
          <p:cNvPr id="8" name="Shape 5"/>
          <p:cNvSpPr/>
          <p:nvPr/>
        </p:nvSpPr>
        <p:spPr>
          <a:xfrm>
            <a:off x="3505200" y="4953000"/>
            <a:ext cx="2489200" cy="38100"/>
          </a:xfrm>
          <a:prstGeom prst="roundRect">
            <a:avLst>
              <a:gd name="adj" fmla="val 50000"/>
            </a:avLst>
          </a:prstGeom>
          <a:solidFill>
            <a:srgbClr val="4A5664"/>
          </a:solidFill>
          <a:ln/>
        </p:spPr>
        <p:txBody>
          <a:bodyPr/>
          <a:lstStyle/>
          <a:p>
            <a:endParaRPr lang="en-CH"/>
          </a:p>
        </p:txBody>
      </p:sp>
      <p:sp>
        <p:nvSpPr>
          <p:cNvPr id="9" name="Text 6"/>
          <p:cNvSpPr txBox="1"/>
          <p:nvPr/>
        </p:nvSpPr>
        <p:spPr>
          <a:xfrm>
            <a:off x="35052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2. What was done</a:t>
            </a:r>
            <a:endParaRPr lang="en-US" sz="2000" dirty="0"/>
          </a:p>
        </p:txBody>
      </p:sp>
      <p:sp>
        <p:nvSpPr>
          <p:cNvPr id="10" name="Shape 7"/>
          <p:cNvSpPr/>
          <p:nvPr/>
        </p:nvSpPr>
        <p:spPr>
          <a:xfrm>
            <a:off x="6197600" y="4953000"/>
            <a:ext cx="2489200" cy="38100"/>
          </a:xfrm>
          <a:prstGeom prst="roundRect">
            <a:avLst>
              <a:gd name="adj" fmla="val 50000"/>
            </a:avLst>
          </a:prstGeom>
          <a:solidFill>
            <a:srgbClr val="4A5664"/>
          </a:solidFill>
          <a:ln/>
        </p:spPr>
        <p:txBody>
          <a:bodyPr/>
          <a:lstStyle/>
          <a:p>
            <a:endParaRPr lang="en-CH"/>
          </a:p>
        </p:txBody>
      </p:sp>
      <p:sp>
        <p:nvSpPr>
          <p:cNvPr id="11" name="Text 8"/>
          <p:cNvSpPr txBox="1"/>
          <p:nvPr/>
        </p:nvSpPr>
        <p:spPr>
          <a:xfrm>
            <a:off x="61976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3. Objectives and timeline</a:t>
            </a:r>
            <a:endParaRPr lang="en-US" sz="2000" dirty="0"/>
          </a:p>
        </p:txBody>
      </p:sp>
      <p:sp>
        <p:nvSpPr>
          <p:cNvPr id="12" name="Shape 9"/>
          <p:cNvSpPr/>
          <p:nvPr/>
        </p:nvSpPr>
        <p:spPr>
          <a:xfrm>
            <a:off x="8890000" y="4953000"/>
            <a:ext cx="2489200" cy="38100"/>
          </a:xfrm>
          <a:prstGeom prst="roundRect">
            <a:avLst>
              <a:gd name="adj" fmla="val 50000"/>
            </a:avLst>
          </a:prstGeom>
          <a:solidFill>
            <a:srgbClr val="4A5664"/>
          </a:solidFill>
          <a:ln/>
        </p:spPr>
        <p:txBody>
          <a:bodyPr/>
          <a:lstStyle/>
          <a:p>
            <a:endParaRPr lang="en-CH"/>
          </a:p>
        </p:txBody>
      </p:sp>
      <p:sp>
        <p:nvSpPr>
          <p:cNvPr id="13" name="Text 10"/>
          <p:cNvSpPr txBox="1"/>
          <p:nvPr/>
        </p:nvSpPr>
        <p:spPr>
          <a:xfrm>
            <a:off x="88900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4. Challenges</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AEB6BF"/>
                </a:solidFill>
                <a:latin typeface="Arial"/>
                <a:ea typeface="Arial"/>
                <a:cs typeface="Arial"/>
              </a:defRPr>
            </a:lvl1pPr>
          </a:lstStyle>
          <a:p>
            <a:pPr algn="r"/>
            <a:r>
              <a:t>3</a:t>
            </a:r>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Semester goal</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4</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My focus: adapt and validate the learned controller. Tim’s focus: the mechanics.</a:t>
            </a:r>
          </a:p>
        </p:txBody>
      </p:sp>
      <p:sp>
        <p:nvSpPr>
          <p:cNvPr id="6" name="Rounded Rectangle 5"/>
          <p:cNvSpPr/>
          <p:nvPr/>
        </p:nvSpPr>
        <p:spPr>
          <a:xfrm>
            <a:off x="812901" y="1774850"/>
            <a:ext cx="3402124" cy="335219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Rectangle 6"/>
          <p:cNvSpPr/>
          <p:nvPr/>
        </p:nvSpPr>
        <p:spPr>
          <a:xfrm>
            <a:off x="812901" y="1774850"/>
            <a:ext cx="48350" cy="3352190"/>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988722" y="1920971"/>
            <a:ext cx="3050484" cy="24067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INHERITED</a:t>
            </a:r>
          </a:p>
        </p:txBody>
      </p:sp>
      <p:sp>
        <p:nvSpPr>
          <p:cNvPr id="9" name="TextBox 8"/>
          <p:cNvSpPr txBox="1"/>
          <p:nvPr/>
        </p:nvSpPr>
        <p:spPr>
          <a:xfrm>
            <a:off x="988722" y="2299167"/>
            <a:ext cx="3050484" cy="60167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Working baseline</a:t>
            </a:r>
          </a:p>
        </p:txBody>
      </p:sp>
      <p:sp>
        <p:nvSpPr>
          <p:cNvPr id="10" name="TextBox 9"/>
          <p:cNvSpPr txBox="1"/>
          <p:nvPr/>
        </p:nvSpPr>
        <p:spPr>
          <a:xfrm>
            <a:off x="988722" y="2995391"/>
            <a:ext cx="3050484" cy="2019908"/>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Nathann’s RL pipeline</a:t>
            </a:r>
          </a:p>
          <a:p>
            <a:pPr>
              <a:spcAft>
                <a:spcPts val="455"/>
              </a:spcAft>
              <a:defRPr sz="1879" b="0">
                <a:solidFill>
                  <a:srgbClr val="26323F"/>
                </a:solidFill>
                <a:latin typeface="Arial"/>
              </a:defRPr>
            </a:pPr>
            <a:r>
              <a:rPr>
                <a:latin typeface="Arial"/>
              </a:rPr>
              <a:t>Gait generator + feedback</a:t>
            </a:r>
          </a:p>
          <a:p>
            <a:pPr>
              <a:spcAft>
                <a:spcPts val="455"/>
              </a:spcAft>
              <a:defRPr sz="1879" b="0">
                <a:solidFill>
                  <a:srgbClr val="26323F"/>
                </a:solidFill>
                <a:latin typeface="Arial"/>
              </a:defRPr>
            </a:pPr>
            <a:r>
              <a:rPr>
                <a:latin typeface="Arial"/>
              </a:rPr>
              <a:t>Deployment code and UI</a:t>
            </a:r>
          </a:p>
        </p:txBody>
      </p:sp>
      <p:sp>
        <p:nvSpPr>
          <p:cNvPr id="11" name="Rounded Rectangle 10"/>
          <p:cNvSpPr/>
          <p:nvPr/>
        </p:nvSpPr>
        <p:spPr>
          <a:xfrm>
            <a:off x="4399637" y="1774850"/>
            <a:ext cx="3402124" cy="335219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Rectangle 11"/>
          <p:cNvSpPr/>
          <p:nvPr/>
        </p:nvSpPr>
        <p:spPr>
          <a:xfrm>
            <a:off x="4399637" y="1774850"/>
            <a:ext cx="48350" cy="3352190"/>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TextBox 12"/>
          <p:cNvSpPr txBox="1"/>
          <p:nvPr/>
        </p:nvSpPr>
        <p:spPr>
          <a:xfrm>
            <a:off x="4575458" y="1920971"/>
            <a:ext cx="3050484" cy="24067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WHAT CHANGED</a:t>
            </a:r>
          </a:p>
        </p:txBody>
      </p:sp>
      <p:sp>
        <p:nvSpPr>
          <p:cNvPr id="14" name="TextBox 13"/>
          <p:cNvSpPr txBox="1"/>
          <p:nvPr/>
        </p:nvSpPr>
        <p:spPr>
          <a:xfrm>
            <a:off x="4575458" y="2299167"/>
            <a:ext cx="3050484" cy="60167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A new model</a:t>
            </a:r>
          </a:p>
        </p:txBody>
      </p:sp>
      <p:sp>
        <p:nvSpPr>
          <p:cNvPr id="15" name="TextBox 14"/>
          <p:cNvSpPr txBox="1"/>
          <p:nvPr/>
        </p:nvSpPr>
        <p:spPr>
          <a:xfrm>
            <a:off x="4575458" y="2995391"/>
            <a:ext cx="3050484" cy="2019908"/>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New geometry and flat feet</a:t>
            </a:r>
          </a:p>
          <a:p>
            <a:pPr>
              <a:spcAft>
                <a:spcPts val="455"/>
              </a:spcAft>
              <a:defRPr sz="1879" b="0">
                <a:solidFill>
                  <a:srgbClr val="26323F"/>
                </a:solidFill>
                <a:latin typeface="Arial"/>
              </a:defRPr>
            </a:pPr>
            <a:r>
              <a:rPr>
                <a:latin typeface="Arial"/>
              </a:rPr>
              <a:t>Corrected mass and inertia</a:t>
            </a:r>
          </a:p>
          <a:p>
            <a:pPr>
              <a:spcAft>
                <a:spcPts val="455"/>
              </a:spcAft>
              <a:defRPr sz="1879" b="0">
                <a:solidFill>
                  <a:srgbClr val="26323F"/>
                </a:solidFill>
                <a:latin typeface="Arial"/>
              </a:defRPr>
            </a:pPr>
            <a:r>
              <a:rPr>
                <a:latin typeface="Arial"/>
              </a:rPr>
              <a:t>New homing configuration</a:t>
            </a:r>
          </a:p>
        </p:txBody>
      </p:sp>
      <p:sp>
        <p:nvSpPr>
          <p:cNvPr id="16" name="Rounded Rectangle 15"/>
          <p:cNvSpPr/>
          <p:nvPr/>
        </p:nvSpPr>
        <p:spPr>
          <a:xfrm>
            <a:off x="7986374" y="1774850"/>
            <a:ext cx="3402124" cy="335219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Rectangle 16"/>
          <p:cNvSpPr/>
          <p:nvPr/>
        </p:nvSpPr>
        <p:spPr>
          <a:xfrm>
            <a:off x="7986374" y="1774850"/>
            <a:ext cx="48350" cy="3352190"/>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8162194" y="1920971"/>
            <a:ext cx="3050484" cy="24067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SEMESTER OBJECTIVE</a:t>
            </a:r>
          </a:p>
        </p:txBody>
      </p:sp>
      <p:sp>
        <p:nvSpPr>
          <p:cNvPr id="19" name="TextBox 18"/>
          <p:cNvSpPr txBox="1"/>
          <p:nvPr/>
        </p:nvSpPr>
        <p:spPr>
          <a:xfrm>
            <a:off x="8162194" y="2299167"/>
            <a:ext cx="3050484" cy="60167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A short robot demo</a:t>
            </a:r>
          </a:p>
        </p:txBody>
      </p:sp>
      <p:sp>
        <p:nvSpPr>
          <p:cNvPr id="20" name="TextBox 19"/>
          <p:cNvSpPr txBox="1"/>
          <p:nvPr/>
        </p:nvSpPr>
        <p:spPr>
          <a:xfrm>
            <a:off x="8162194" y="2995391"/>
            <a:ext cx="3050484" cy="2019908"/>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Start upright</a:t>
            </a:r>
          </a:p>
          <a:p>
            <a:pPr>
              <a:spcAft>
                <a:spcPts val="455"/>
              </a:spcAft>
              <a:defRPr sz="1879" b="0">
                <a:solidFill>
                  <a:srgbClr val="26323F"/>
                </a:solidFill>
                <a:latin typeface="Arial"/>
              </a:defRPr>
            </a:pPr>
            <a:r>
              <a:rPr>
                <a:latin typeface="Arial"/>
              </a:rPr>
              <a:t>Walk at commanded speeds</a:t>
            </a:r>
          </a:p>
          <a:p>
            <a:pPr>
              <a:spcAft>
                <a:spcPts val="455"/>
              </a:spcAft>
              <a:defRPr sz="1879" b="0">
                <a:solidFill>
                  <a:srgbClr val="26323F"/>
                </a:solidFill>
                <a:latin typeface="Arial"/>
              </a:defRPr>
            </a:pPr>
            <a:r>
              <a:rPr>
                <a:latin typeface="Arial"/>
              </a:rPr>
              <a:t>Stop and remain standing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Starting point: Nathann’s controller</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5</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The policy generates motion targets; motor feedback turns those targets into torque.</a:t>
            </a:r>
          </a:p>
        </p:txBody>
      </p:sp>
      <p:sp>
        <p:nvSpPr>
          <p:cNvPr id="6" name="Rounded Rectangle 5"/>
          <p:cNvSpPr/>
          <p:nvPr/>
        </p:nvSpPr>
        <p:spPr>
          <a:xfrm>
            <a:off x="812901" y="2204618"/>
            <a:ext cx="1960397" cy="1246327"/>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TextBox 6"/>
          <p:cNvSpPr txBox="1"/>
          <p:nvPr/>
        </p:nvSpPr>
        <p:spPr>
          <a:xfrm>
            <a:off x="927184" y="2367930"/>
            <a:ext cx="1731830" cy="343814"/>
          </a:xfrm>
          <a:prstGeom prst="rect">
            <a:avLst/>
          </a:prstGeom>
          <a:noFill/>
        </p:spPr>
        <p:txBody>
          <a:bodyPr wrap="square" lIns="0" rIns="0" tIns="0" bIns="0">
            <a:spAutoFit/>
          </a:bodyPr>
          <a:lstStyle/>
          <a:p>
            <a:pPr>
              <a:spcAft>
                <a:spcPts val="455"/>
              </a:spcAft>
              <a:defRPr sz="1879" b="1">
                <a:solidFill>
                  <a:srgbClr val="26323F"/>
                </a:solidFill>
                <a:latin typeface="Arial"/>
              </a:defRPr>
            </a:pPr>
            <a:r>
              <a:rPr>
                <a:latin typeface="Arial"/>
              </a:rPr>
              <a:t>Sensors</a:t>
            </a:r>
          </a:p>
        </p:txBody>
      </p:sp>
      <p:sp>
        <p:nvSpPr>
          <p:cNvPr id="8" name="TextBox 7"/>
          <p:cNvSpPr txBox="1"/>
          <p:nvPr/>
        </p:nvSpPr>
        <p:spPr>
          <a:xfrm>
            <a:off x="927184" y="2780507"/>
            <a:ext cx="1731830" cy="601675"/>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IMU + joints</a:t>
            </a:r>
          </a:p>
          <a:p>
            <a:pPr>
              <a:spcAft>
                <a:spcPts val="455"/>
              </a:spcAft>
              <a:defRPr sz="1504" b="0">
                <a:solidFill>
                  <a:srgbClr val="26323F"/>
                </a:solidFill>
                <a:latin typeface="Arial"/>
              </a:defRPr>
            </a:pPr>
            <a:r>
              <a:rPr>
                <a:latin typeface="Arial"/>
              </a:rPr>
              <a:t>180 ms history</a:t>
            </a:r>
          </a:p>
        </p:txBody>
      </p:sp>
      <p:sp>
        <p:nvSpPr>
          <p:cNvPr id="9" name="Right Arrow 8"/>
          <p:cNvSpPr/>
          <p:nvPr/>
        </p:nvSpPr>
        <p:spPr>
          <a:xfrm>
            <a:off x="2790881" y="2694553"/>
            <a:ext cx="149447" cy="163311"/>
          </a:xfrm>
          <a:prstGeom prst="rightArrow">
            <a:avLst/>
          </a:prstGeom>
          <a:solidFill>
            <a:srgbClr val="5A62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Rounded Rectangle 9"/>
          <p:cNvSpPr/>
          <p:nvPr/>
        </p:nvSpPr>
        <p:spPr>
          <a:xfrm>
            <a:off x="2957910" y="2204618"/>
            <a:ext cx="1960397" cy="1246327"/>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3072193" y="2367930"/>
            <a:ext cx="1731830" cy="343814"/>
          </a:xfrm>
          <a:prstGeom prst="rect">
            <a:avLst/>
          </a:prstGeom>
          <a:noFill/>
        </p:spPr>
        <p:txBody>
          <a:bodyPr wrap="square" lIns="0" rIns="0" tIns="0" bIns="0">
            <a:spAutoFit/>
          </a:bodyPr>
          <a:lstStyle/>
          <a:p>
            <a:pPr>
              <a:spcAft>
                <a:spcPts val="455"/>
              </a:spcAft>
              <a:defRPr sz="1879" b="1">
                <a:solidFill>
                  <a:srgbClr val="26323F"/>
                </a:solidFill>
                <a:latin typeface="Arial"/>
              </a:defRPr>
            </a:pPr>
            <a:r>
              <a:rPr>
                <a:latin typeface="Arial"/>
              </a:rPr>
              <a:t>State estimate</a:t>
            </a:r>
          </a:p>
        </p:txBody>
      </p:sp>
      <p:sp>
        <p:nvSpPr>
          <p:cNvPr id="12" name="TextBox 11"/>
          <p:cNvSpPr txBox="1"/>
          <p:nvPr/>
        </p:nvSpPr>
        <p:spPr>
          <a:xfrm>
            <a:off x="3072193" y="2780507"/>
            <a:ext cx="1731830" cy="601675"/>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Learned velocity</a:t>
            </a:r>
          </a:p>
          <a:p>
            <a:pPr>
              <a:spcAft>
                <a:spcPts val="455"/>
              </a:spcAft>
              <a:defRPr sz="1504" b="0">
                <a:solidFill>
                  <a:srgbClr val="26323F"/>
                </a:solidFill>
                <a:latin typeface="Arial"/>
              </a:defRPr>
            </a:pPr>
            <a:r>
              <a:rPr>
                <a:latin typeface="Arial"/>
              </a:rPr>
              <a:t>From sensor history</a:t>
            </a:r>
          </a:p>
        </p:txBody>
      </p:sp>
      <p:sp>
        <p:nvSpPr>
          <p:cNvPr id="13" name="Right Arrow 12"/>
          <p:cNvSpPr/>
          <p:nvPr/>
        </p:nvSpPr>
        <p:spPr>
          <a:xfrm>
            <a:off x="4935890" y="2694553"/>
            <a:ext cx="149447" cy="163311"/>
          </a:xfrm>
          <a:prstGeom prst="rightArrow">
            <a:avLst/>
          </a:prstGeom>
          <a:solidFill>
            <a:srgbClr val="5A62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ounded Rectangle 13"/>
          <p:cNvSpPr/>
          <p:nvPr/>
        </p:nvSpPr>
        <p:spPr>
          <a:xfrm>
            <a:off x="5102919" y="2204618"/>
            <a:ext cx="1960397" cy="1246327"/>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5217202" y="2367930"/>
            <a:ext cx="1731830" cy="343814"/>
          </a:xfrm>
          <a:prstGeom prst="rect">
            <a:avLst/>
          </a:prstGeom>
          <a:noFill/>
        </p:spPr>
        <p:txBody>
          <a:bodyPr wrap="square" lIns="0" rIns="0" tIns="0" bIns="0">
            <a:spAutoFit/>
          </a:bodyPr>
          <a:lstStyle/>
          <a:p>
            <a:pPr>
              <a:spcAft>
                <a:spcPts val="455"/>
              </a:spcAft>
              <a:defRPr sz="1879" b="1">
                <a:solidFill>
                  <a:srgbClr val="E2001A"/>
                </a:solidFill>
                <a:latin typeface="Arial"/>
              </a:defRPr>
            </a:pPr>
            <a:r>
              <a:rPr>
                <a:latin typeface="Arial"/>
              </a:rPr>
              <a:t>RL policy</a:t>
            </a:r>
          </a:p>
        </p:txBody>
      </p:sp>
      <p:sp>
        <p:nvSpPr>
          <p:cNvPr id="16" name="TextBox 15"/>
          <p:cNvSpPr txBox="1"/>
          <p:nvPr/>
        </p:nvSpPr>
        <p:spPr>
          <a:xfrm>
            <a:off x="5217202" y="2780507"/>
            <a:ext cx="1731830" cy="601675"/>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384 obs + 3 est.</a:t>
            </a:r>
          </a:p>
          <a:p>
            <a:pPr>
              <a:spcAft>
                <a:spcPts val="455"/>
              </a:spcAft>
              <a:defRPr sz="1504" b="0">
                <a:solidFill>
                  <a:srgbClr val="26323F"/>
                </a:solidFill>
                <a:latin typeface="Arial"/>
              </a:defRPr>
            </a:pPr>
            <a:r>
              <a:rPr>
                <a:latin typeface="Arial"/>
              </a:rPr>
              <a:t>47 outputs · 100 Hz</a:t>
            </a:r>
          </a:p>
        </p:txBody>
      </p:sp>
      <p:sp>
        <p:nvSpPr>
          <p:cNvPr id="17" name="Right Arrow 16"/>
          <p:cNvSpPr/>
          <p:nvPr/>
        </p:nvSpPr>
        <p:spPr>
          <a:xfrm>
            <a:off x="7080899" y="2694553"/>
            <a:ext cx="149447" cy="163311"/>
          </a:xfrm>
          <a:prstGeom prst="rightArrow">
            <a:avLst/>
          </a:prstGeom>
          <a:solidFill>
            <a:srgbClr val="5A62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Rounded Rectangle 17"/>
          <p:cNvSpPr/>
          <p:nvPr/>
        </p:nvSpPr>
        <p:spPr>
          <a:xfrm>
            <a:off x="7247928" y="2204618"/>
            <a:ext cx="1960397" cy="1246327"/>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TextBox 18"/>
          <p:cNvSpPr txBox="1"/>
          <p:nvPr/>
        </p:nvSpPr>
        <p:spPr>
          <a:xfrm>
            <a:off x="7362211" y="2367930"/>
            <a:ext cx="1731830" cy="343814"/>
          </a:xfrm>
          <a:prstGeom prst="rect">
            <a:avLst/>
          </a:prstGeom>
          <a:noFill/>
        </p:spPr>
        <p:txBody>
          <a:bodyPr wrap="square" lIns="0" rIns="0" tIns="0" bIns="0">
            <a:spAutoFit/>
          </a:bodyPr>
          <a:lstStyle/>
          <a:p>
            <a:pPr>
              <a:spcAft>
                <a:spcPts val="455"/>
              </a:spcAft>
              <a:defRPr sz="1879" b="1">
                <a:solidFill>
                  <a:srgbClr val="26323F"/>
                </a:solidFill>
                <a:latin typeface="Arial"/>
              </a:defRPr>
            </a:pPr>
            <a:r>
              <a:rPr>
                <a:latin typeface="Arial"/>
              </a:rPr>
              <a:t>Gait generator</a:t>
            </a:r>
          </a:p>
        </p:txBody>
      </p:sp>
      <p:sp>
        <p:nvSpPr>
          <p:cNvPr id="20" name="TextBox 19"/>
          <p:cNvSpPr txBox="1"/>
          <p:nvPr/>
        </p:nvSpPr>
        <p:spPr>
          <a:xfrm>
            <a:off x="7362211" y="2780507"/>
            <a:ext cx="1731830" cy="601675"/>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41 gait parameters</a:t>
            </a:r>
          </a:p>
          <a:p>
            <a:pPr>
              <a:spcAft>
                <a:spcPts val="455"/>
              </a:spcAft>
              <a:defRPr sz="1504" b="0">
                <a:solidFill>
                  <a:srgbClr val="26323F"/>
                </a:solidFill>
                <a:latin typeface="Arial"/>
              </a:defRPr>
            </a:pPr>
            <a:r>
              <a:rPr>
                <a:latin typeface="Arial"/>
              </a:rPr>
              <a:t>6 joint corrections</a:t>
            </a:r>
          </a:p>
        </p:txBody>
      </p:sp>
      <p:sp>
        <p:nvSpPr>
          <p:cNvPr id="21" name="Right Arrow 20"/>
          <p:cNvSpPr/>
          <p:nvPr/>
        </p:nvSpPr>
        <p:spPr>
          <a:xfrm>
            <a:off x="9225908" y="2694553"/>
            <a:ext cx="149447" cy="163311"/>
          </a:xfrm>
          <a:prstGeom prst="rightArrow">
            <a:avLst/>
          </a:prstGeom>
          <a:solidFill>
            <a:srgbClr val="5A62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Rounded Rectangle 21"/>
          <p:cNvSpPr/>
          <p:nvPr/>
        </p:nvSpPr>
        <p:spPr>
          <a:xfrm>
            <a:off x="9392937" y="2204618"/>
            <a:ext cx="1960397" cy="1246327"/>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TextBox 22"/>
          <p:cNvSpPr txBox="1"/>
          <p:nvPr/>
        </p:nvSpPr>
        <p:spPr>
          <a:xfrm>
            <a:off x="9507220" y="2367930"/>
            <a:ext cx="1731830" cy="343814"/>
          </a:xfrm>
          <a:prstGeom prst="rect">
            <a:avLst/>
          </a:prstGeom>
          <a:noFill/>
        </p:spPr>
        <p:txBody>
          <a:bodyPr wrap="square" lIns="0" rIns="0" tIns="0" bIns="0">
            <a:spAutoFit/>
          </a:bodyPr>
          <a:lstStyle/>
          <a:p>
            <a:pPr>
              <a:spcAft>
                <a:spcPts val="455"/>
              </a:spcAft>
              <a:defRPr sz="1879" b="1">
                <a:solidFill>
                  <a:srgbClr val="26323F"/>
                </a:solidFill>
                <a:latin typeface="Arial"/>
              </a:defRPr>
            </a:pPr>
            <a:r>
              <a:rPr>
                <a:latin typeface="Arial"/>
              </a:rPr>
              <a:t>PD + limits</a:t>
            </a:r>
          </a:p>
        </p:txBody>
      </p:sp>
      <p:sp>
        <p:nvSpPr>
          <p:cNvPr id="24" name="TextBox 23"/>
          <p:cNvSpPr txBox="1"/>
          <p:nvPr/>
        </p:nvSpPr>
        <p:spPr>
          <a:xfrm>
            <a:off x="9507220" y="2780507"/>
            <a:ext cx="1731830" cy="601675"/>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Targets + gains</a:t>
            </a:r>
          </a:p>
          <a:p>
            <a:pPr>
              <a:spcAft>
                <a:spcPts val="455"/>
              </a:spcAft>
              <a:defRPr sz="1504" b="0">
                <a:solidFill>
                  <a:srgbClr val="26323F"/>
                </a:solidFill>
                <a:latin typeface="Arial"/>
              </a:defRPr>
            </a:pPr>
            <a:r>
              <a:rPr>
                <a:latin typeface="Arial"/>
              </a:rPr>
              <a:t>Torque/speed caps</a:t>
            </a:r>
          </a:p>
        </p:txBody>
      </p:sp>
      <p:sp>
        <p:nvSpPr>
          <p:cNvPr id="25" name="Rounded Rectangle 24"/>
          <p:cNvSpPr/>
          <p:nvPr/>
        </p:nvSpPr>
        <p:spPr>
          <a:xfrm>
            <a:off x="5102919" y="1680301"/>
            <a:ext cx="1960397" cy="343814"/>
          </a:xfrm>
          <a:prstGeom prst="roundRect">
            <a:avLst>
              <a:gd name="adj" fmla="val 8000"/>
            </a:avLst>
          </a:prstGeom>
          <a:solidFill>
            <a:srgbClr val="E8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6" name="TextBox 25"/>
          <p:cNvSpPr txBox="1"/>
          <p:nvPr/>
        </p:nvSpPr>
        <p:spPr>
          <a:xfrm>
            <a:off x="5208411" y="1740468"/>
            <a:ext cx="1758204" cy="206288"/>
          </a:xfrm>
          <a:prstGeom prst="rect">
            <a:avLst/>
          </a:prstGeom>
          <a:noFill/>
        </p:spPr>
        <p:txBody>
          <a:bodyPr wrap="square" lIns="0" rIns="0" tIns="0" bIns="0">
            <a:spAutoFit/>
          </a:bodyPr>
          <a:lstStyle/>
          <a:p>
            <a:pPr>
              <a:spcAft>
                <a:spcPts val="455"/>
              </a:spcAft>
              <a:defRPr sz="1410" b="1">
                <a:solidFill>
                  <a:srgbClr val="26323F"/>
                </a:solidFill>
                <a:latin typeface="Arial"/>
              </a:defRPr>
            </a:pPr>
            <a:r>
              <a:rPr>
                <a:latin typeface="Arial"/>
              </a:rPr>
              <a:t>Commanded speed</a:t>
            </a:r>
          </a:p>
        </p:txBody>
      </p:sp>
      <p:sp>
        <p:nvSpPr>
          <p:cNvPr id="27" name="Rounded Rectangle 26"/>
          <p:cNvSpPr/>
          <p:nvPr/>
        </p:nvSpPr>
        <p:spPr>
          <a:xfrm>
            <a:off x="9392937" y="3949476"/>
            <a:ext cx="1960397" cy="816559"/>
          </a:xfrm>
          <a:prstGeom prst="roundRect">
            <a:avLst>
              <a:gd name="adj" fmla="val 8000"/>
            </a:avLst>
          </a:prstGeom>
          <a:solidFill>
            <a:srgbClr val="263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8" name="TextBox 27"/>
          <p:cNvSpPr txBox="1"/>
          <p:nvPr/>
        </p:nvSpPr>
        <p:spPr>
          <a:xfrm>
            <a:off x="9507220" y="4078406"/>
            <a:ext cx="1731830" cy="627461"/>
          </a:xfrm>
          <a:prstGeom prst="rect">
            <a:avLst/>
          </a:prstGeom>
          <a:noFill/>
        </p:spPr>
        <p:txBody>
          <a:bodyPr wrap="square" lIns="0" rIns="0" tIns="0" bIns="0">
            <a:spAutoFit/>
          </a:bodyPr>
          <a:lstStyle/>
          <a:p>
            <a:pPr>
              <a:spcAft>
                <a:spcPts val="455"/>
              </a:spcAft>
              <a:defRPr sz="1691" b="1">
                <a:solidFill>
                  <a:srgbClr val="FFFFFF"/>
                </a:solidFill>
                <a:latin typeface="Arial"/>
              </a:defRPr>
            </a:pPr>
            <a:r>
              <a:rPr>
                <a:latin typeface="Arial"/>
              </a:rPr>
              <a:t>Six motors</a:t>
            </a:r>
          </a:p>
          <a:p>
            <a:pPr>
              <a:spcAft>
                <a:spcPts val="455"/>
              </a:spcAft>
              <a:defRPr sz="1691" b="1">
                <a:solidFill>
                  <a:srgbClr val="FFFFFF"/>
                </a:solidFill>
                <a:latin typeface="Arial"/>
              </a:defRPr>
            </a:pPr>
            <a:r>
              <a:rPr>
                <a:latin typeface="Arial"/>
              </a:rPr>
              <a:t>+ robot</a:t>
            </a:r>
          </a:p>
        </p:txBody>
      </p:sp>
      <p:sp>
        <p:nvSpPr>
          <p:cNvPr id="29" name="Down Arrow 28"/>
          <p:cNvSpPr/>
          <p:nvPr/>
        </p:nvSpPr>
        <p:spPr>
          <a:xfrm>
            <a:off x="10254457" y="3554088"/>
            <a:ext cx="202193" cy="283646"/>
          </a:xfrm>
          <a:prstGeom prst="downArrow">
            <a:avLst/>
          </a:prstGeom>
          <a:solidFill>
            <a:srgbClr val="5A62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0" name="Rounded Rectangle 29"/>
          <p:cNvSpPr/>
          <p:nvPr/>
        </p:nvSpPr>
        <p:spPr>
          <a:xfrm>
            <a:off x="812901" y="3949476"/>
            <a:ext cx="7867962" cy="816559"/>
          </a:xfrm>
          <a:prstGeom prst="roundRect">
            <a:avLst>
              <a:gd name="adj" fmla="val 8000"/>
            </a:avLst>
          </a:prstGeom>
          <a:solidFill>
            <a:srgbClr val="E8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TextBox 30"/>
          <p:cNvSpPr txBox="1"/>
          <p:nvPr/>
        </p:nvSpPr>
        <p:spPr>
          <a:xfrm>
            <a:off x="988722" y="4061216"/>
            <a:ext cx="7472367" cy="275051"/>
          </a:xfrm>
          <a:prstGeom prst="rect">
            <a:avLst/>
          </a:prstGeom>
          <a:noFill/>
        </p:spPr>
        <p:txBody>
          <a:bodyPr wrap="square" lIns="0" rIns="0" tIns="0" bIns="0">
            <a:spAutoFit/>
          </a:bodyPr>
          <a:lstStyle/>
          <a:p>
            <a:pPr>
              <a:spcAft>
                <a:spcPts val="455"/>
              </a:spcAft>
              <a:defRPr sz="1973" b="1">
                <a:solidFill>
                  <a:srgbClr val="26323F"/>
                </a:solidFill>
                <a:latin typeface="Arial"/>
              </a:defRPr>
            </a:pPr>
            <a:r>
              <a:rPr>
                <a:latin typeface="Arial"/>
              </a:rPr>
              <a:t>Training only: PPO + privileged critic in MuJoCo / MJX</a:t>
            </a:r>
          </a:p>
        </p:txBody>
      </p:sp>
      <p:sp>
        <p:nvSpPr>
          <p:cNvPr id="32" name="TextBox 31"/>
          <p:cNvSpPr txBox="1"/>
          <p:nvPr/>
        </p:nvSpPr>
        <p:spPr>
          <a:xfrm>
            <a:off x="988722" y="4413625"/>
            <a:ext cx="7472367" cy="232074"/>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Ground-truth velocity and contacts help learning, not the deployed actor.</a:t>
            </a:r>
          </a:p>
        </p:txBody>
      </p:sp>
      <p:sp>
        <p:nvSpPr>
          <p:cNvPr id="33" name="TextBox 32"/>
          <p:cNvSpPr txBox="1"/>
          <p:nvPr/>
        </p:nvSpPr>
        <p:spPr>
          <a:xfrm>
            <a:off x="988722" y="5084064"/>
            <a:ext cx="10153628" cy="361005"/>
          </a:xfrm>
          <a:prstGeom prst="rect">
            <a:avLst/>
          </a:prstGeom>
          <a:noFill/>
        </p:spPr>
        <p:txBody>
          <a:bodyPr wrap="square" lIns="0" rIns="0" tIns="0" bIns="0">
            <a:spAutoFit/>
          </a:bodyPr>
          <a:lstStyle/>
          <a:p>
            <a:pPr>
              <a:spcAft>
                <a:spcPts val="455"/>
              </a:spcAft>
              <a:defRPr sz="1691" b="0">
                <a:solidFill>
                  <a:srgbClr val="5A626D"/>
                </a:solidFill>
                <a:latin typeface="Arial"/>
              </a:defRPr>
            </a:pPr>
            <a:r>
              <a:rPr>
                <a:latin typeface="Arial"/>
              </a:rPr>
              <a:t>Feedback: joint measurements and IMU → next policy update. Simulation advances in 1 ms substeps.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2286000"/>
            <a:ext cx="10566400" cy="355600"/>
          </a:xfrm>
          <a:prstGeom prst="rect">
            <a:avLst/>
          </a:prstGeom>
          <a:noFill/>
          <a:ln/>
        </p:spPr>
        <p:txBody>
          <a:bodyPr wrap="square" lIns="0" tIns="0" rIns="0" bIns="0" rtlCol="0" anchor="t"/>
          <a:lstStyle/>
          <a:p>
            <a:pPr marL="0" indent="0" algn="l">
              <a:lnSpc>
                <a:spcPct val="100000"/>
              </a:lnSpc>
              <a:buNone/>
            </a:pPr>
            <a:r>
              <a:rPr lang="en-US" sz="2000" b="1" dirty="0">
                <a:solidFill>
                  <a:srgbClr val="FF5A6A"/>
                </a:solidFill>
                <a:latin typeface="Arial" pitchFamily="34" charset="0"/>
                <a:ea typeface="Arial" pitchFamily="34" charset="-122"/>
                <a:cs typeface="Arial" pitchFamily="34" charset="-120"/>
              </a:rPr>
              <a:t>PART 2</a:t>
            </a:r>
            <a:endParaRPr lang="en-US" sz="2000" dirty="0"/>
          </a:p>
        </p:txBody>
      </p:sp>
      <p:sp>
        <p:nvSpPr>
          <p:cNvPr id="4" name="Text 1"/>
          <p:cNvSpPr txBox="1"/>
          <p:nvPr/>
        </p:nvSpPr>
        <p:spPr>
          <a:xfrm>
            <a:off x="812800" y="2667000"/>
            <a:ext cx="10566400" cy="952500"/>
          </a:xfrm>
          <a:prstGeom prst="rect">
            <a:avLst/>
          </a:prstGeom>
          <a:noFill/>
          <a:ln/>
        </p:spPr>
        <p:txBody>
          <a:bodyPr wrap="square" lIns="0" tIns="0" rIns="0" bIns="0" rtlCol="0" anchor="ctr"/>
          <a:lstStyle/>
          <a:p>
            <a:pPr marL="0" indent="0" algn="l">
              <a:lnSpc>
                <a:spcPct val="100000"/>
              </a:lnSpc>
              <a:buNone/>
            </a:pPr>
            <a:r>
              <a:rPr lang="en-US" sz="6000" b="1" dirty="0">
                <a:solidFill>
                  <a:srgbClr val="F2F4F6"/>
                </a:solidFill>
                <a:latin typeface="Arial" pitchFamily="34" charset="0"/>
                <a:ea typeface="Arial" pitchFamily="34" charset="-122"/>
                <a:cs typeface="Arial" pitchFamily="34" charset="-120"/>
              </a:rPr>
              <a:t>What was done</a:t>
            </a:r>
            <a:endParaRPr lang="en-US" sz="6000" dirty="0"/>
          </a:p>
        </p:txBody>
      </p:sp>
      <p:sp>
        <p:nvSpPr>
          <p:cNvPr id="5" name="Text 2"/>
          <p:cNvSpPr txBox="1"/>
          <p:nvPr/>
        </p:nvSpPr>
        <p:spPr>
          <a:xfrm>
            <a:off x="812800" y="3746500"/>
            <a:ext cx="10566400" cy="444500"/>
          </a:xfrm>
          <a:prstGeom prst="rect">
            <a:avLst/>
          </a:prstGeom>
          <a:noFill/>
          <a:ln/>
        </p:spPr>
        <p:txBody>
          <a:bodyPr wrap="square" lIns="0" tIns="0" rIns="0" bIns="0" rtlCol="0" anchor="t"/>
          <a:lstStyle/>
          <a:p>
            <a:pPr marL="0" indent="0" algn="l">
              <a:lnSpc>
                <a:spcPct val="100000"/>
              </a:lnSpc>
              <a:buNone/>
            </a:pPr>
            <a:r>
              <a:rPr lang="en-US" sz="2400" dirty="0">
                <a:solidFill>
                  <a:srgbClr val="AEB6BF"/>
                </a:solidFill>
                <a:latin typeface="Arial" pitchFamily="34" charset="0"/>
                <a:ea typeface="Arial" pitchFamily="34" charset="-122"/>
                <a:cs typeface="Arial" pitchFamily="34" charset="-120"/>
              </a:rPr>
              <a:t>Model · Learning · Gait · Results</a:t>
            </a:r>
            <a:endParaRPr lang="en-US" sz="2400" dirty="0"/>
          </a:p>
        </p:txBody>
      </p:sp>
      <p:sp>
        <p:nvSpPr>
          <p:cNvPr id="6" name="Shape 3"/>
          <p:cNvSpPr/>
          <p:nvPr/>
        </p:nvSpPr>
        <p:spPr>
          <a:xfrm>
            <a:off x="812800" y="4953000"/>
            <a:ext cx="2489200" cy="38100"/>
          </a:xfrm>
          <a:prstGeom prst="roundRect">
            <a:avLst>
              <a:gd name="adj" fmla="val 50000"/>
            </a:avLst>
          </a:prstGeom>
          <a:solidFill>
            <a:srgbClr val="4A5664"/>
          </a:solidFill>
          <a:ln/>
        </p:spPr>
        <p:txBody>
          <a:bodyPr/>
          <a:lstStyle/>
          <a:p>
            <a:endParaRPr lang="en-CH"/>
          </a:p>
        </p:txBody>
      </p:sp>
      <p:sp>
        <p:nvSpPr>
          <p:cNvPr id="7" name="Text 4"/>
          <p:cNvSpPr txBox="1"/>
          <p:nvPr/>
        </p:nvSpPr>
        <p:spPr>
          <a:xfrm>
            <a:off x="8128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1. Context</a:t>
            </a:r>
            <a:endParaRPr lang="en-US" sz="2000" dirty="0"/>
          </a:p>
        </p:txBody>
      </p:sp>
      <p:sp>
        <p:nvSpPr>
          <p:cNvPr id="8" name="Shape 5"/>
          <p:cNvSpPr/>
          <p:nvPr/>
        </p:nvSpPr>
        <p:spPr>
          <a:xfrm>
            <a:off x="3505200" y="4953000"/>
            <a:ext cx="2489200" cy="38100"/>
          </a:xfrm>
          <a:prstGeom prst="roundRect">
            <a:avLst>
              <a:gd name="adj" fmla="val 50000"/>
            </a:avLst>
          </a:prstGeom>
          <a:solidFill>
            <a:srgbClr val="E2001A"/>
          </a:solidFill>
          <a:ln/>
        </p:spPr>
        <p:txBody>
          <a:bodyPr/>
          <a:lstStyle/>
          <a:p>
            <a:endParaRPr lang="en-CH"/>
          </a:p>
        </p:txBody>
      </p:sp>
      <p:sp>
        <p:nvSpPr>
          <p:cNvPr id="9" name="Text 6"/>
          <p:cNvSpPr txBox="1"/>
          <p:nvPr/>
        </p:nvSpPr>
        <p:spPr>
          <a:xfrm>
            <a:off x="3505200" y="5118100"/>
            <a:ext cx="2489200" cy="698500"/>
          </a:xfrm>
          <a:prstGeom prst="rect">
            <a:avLst/>
          </a:prstGeom>
          <a:noFill/>
          <a:ln/>
        </p:spPr>
        <p:txBody>
          <a:bodyPr wrap="square" lIns="0" tIns="0" rIns="0" bIns="0" rtlCol="0" anchor="t"/>
          <a:lstStyle/>
          <a:p>
            <a:pPr marL="0" indent="0" algn="l">
              <a:lnSpc>
                <a:spcPct val="100000"/>
              </a:lnSpc>
              <a:buNone/>
            </a:pPr>
            <a:r>
              <a:rPr lang="en-US" sz="2000" b="1" dirty="0">
                <a:solidFill>
                  <a:srgbClr val="F2F4F6"/>
                </a:solidFill>
                <a:latin typeface="Arial" pitchFamily="34" charset="0"/>
                <a:ea typeface="Arial" pitchFamily="34" charset="-122"/>
                <a:cs typeface="Arial" pitchFamily="34" charset="-120"/>
              </a:rPr>
              <a:t>2. What was done</a:t>
            </a:r>
            <a:endParaRPr lang="en-US" sz="2000" dirty="0"/>
          </a:p>
        </p:txBody>
      </p:sp>
      <p:sp>
        <p:nvSpPr>
          <p:cNvPr id="10" name="Shape 7"/>
          <p:cNvSpPr/>
          <p:nvPr/>
        </p:nvSpPr>
        <p:spPr>
          <a:xfrm>
            <a:off x="6197600" y="4953000"/>
            <a:ext cx="2489200" cy="38100"/>
          </a:xfrm>
          <a:prstGeom prst="roundRect">
            <a:avLst>
              <a:gd name="adj" fmla="val 50000"/>
            </a:avLst>
          </a:prstGeom>
          <a:solidFill>
            <a:srgbClr val="4A5664"/>
          </a:solidFill>
          <a:ln/>
        </p:spPr>
        <p:txBody>
          <a:bodyPr/>
          <a:lstStyle/>
          <a:p>
            <a:endParaRPr lang="en-CH"/>
          </a:p>
        </p:txBody>
      </p:sp>
      <p:sp>
        <p:nvSpPr>
          <p:cNvPr id="11" name="Text 8"/>
          <p:cNvSpPr txBox="1"/>
          <p:nvPr/>
        </p:nvSpPr>
        <p:spPr>
          <a:xfrm>
            <a:off x="61976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3. Objectives and timeline</a:t>
            </a:r>
            <a:endParaRPr lang="en-US" sz="2000" dirty="0"/>
          </a:p>
        </p:txBody>
      </p:sp>
      <p:sp>
        <p:nvSpPr>
          <p:cNvPr id="12" name="Shape 9"/>
          <p:cNvSpPr/>
          <p:nvPr/>
        </p:nvSpPr>
        <p:spPr>
          <a:xfrm>
            <a:off x="8890000" y="4953000"/>
            <a:ext cx="2489200" cy="38100"/>
          </a:xfrm>
          <a:prstGeom prst="roundRect">
            <a:avLst>
              <a:gd name="adj" fmla="val 50000"/>
            </a:avLst>
          </a:prstGeom>
          <a:solidFill>
            <a:srgbClr val="4A5664"/>
          </a:solidFill>
          <a:ln/>
        </p:spPr>
        <p:txBody>
          <a:bodyPr/>
          <a:lstStyle/>
          <a:p>
            <a:endParaRPr lang="en-CH"/>
          </a:p>
        </p:txBody>
      </p:sp>
      <p:sp>
        <p:nvSpPr>
          <p:cNvPr id="13" name="Text 10"/>
          <p:cNvSpPr txBox="1"/>
          <p:nvPr/>
        </p:nvSpPr>
        <p:spPr>
          <a:xfrm>
            <a:off x="88900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4. Challenges</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AEB6BF"/>
                </a:solidFill>
                <a:latin typeface="Arial"/>
                <a:ea typeface="Arial"/>
                <a:cs typeface="Arial"/>
              </a:defRPr>
            </a:lvl1pPr>
          </a:lstStyle>
          <a:p>
            <a:pPr algn="r"/>
            <a:r>
              <a:t>6</a:t>
            </a:r>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What we explored and what we learned</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7</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Survival, speed tracking and gait quality are different objectives.</a:t>
            </a:r>
          </a:p>
        </p:txBody>
      </p:sp>
      <p:sp>
        <p:nvSpPr>
          <p:cNvPr id="6" name="Rounded Rectangle 5"/>
          <p:cNvSpPr/>
          <p:nvPr/>
        </p:nvSpPr>
        <p:spPr>
          <a:xfrm>
            <a:off x="812901" y="1731873"/>
            <a:ext cx="404386" cy="395386"/>
          </a:xfrm>
          <a:prstGeom prst="roundRect">
            <a:avLst>
              <a:gd name="adj" fmla="val 8000"/>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TextBox 6"/>
          <p:cNvSpPr txBox="1"/>
          <p:nvPr/>
        </p:nvSpPr>
        <p:spPr>
          <a:xfrm>
            <a:off x="892020" y="1787742"/>
            <a:ext cx="237357" cy="257860"/>
          </a:xfrm>
          <a:prstGeom prst="rect">
            <a:avLst/>
          </a:prstGeom>
          <a:noFill/>
        </p:spPr>
        <p:txBody>
          <a:bodyPr wrap="square" lIns="0" rIns="0" tIns="0" bIns="0">
            <a:spAutoFit/>
          </a:bodyPr>
          <a:lstStyle/>
          <a:p>
            <a:pPr>
              <a:spcAft>
                <a:spcPts val="455"/>
              </a:spcAft>
              <a:defRPr sz="1691" b="1">
                <a:solidFill>
                  <a:srgbClr val="FFFFFF"/>
                </a:solidFill>
                <a:latin typeface="Arial"/>
              </a:defRPr>
            </a:pPr>
            <a:r>
              <a:rPr>
                <a:latin typeface="Arial"/>
              </a:rPr>
              <a:t>1</a:t>
            </a:r>
          </a:p>
        </p:txBody>
      </p:sp>
      <p:sp>
        <p:nvSpPr>
          <p:cNvPr id="8" name="TextBox 7"/>
          <p:cNvSpPr txBox="1"/>
          <p:nvPr/>
        </p:nvSpPr>
        <p:spPr>
          <a:xfrm>
            <a:off x="1428273" y="1714682"/>
            <a:ext cx="7648186" cy="300837"/>
          </a:xfrm>
          <a:prstGeom prst="rect">
            <a:avLst/>
          </a:prstGeom>
          <a:noFill/>
        </p:spPr>
        <p:txBody>
          <a:bodyPr wrap="square" lIns="0" rIns="0" tIns="0" bIns="0">
            <a:spAutoFit/>
          </a:bodyPr>
          <a:lstStyle/>
          <a:p>
            <a:pPr>
              <a:spcAft>
                <a:spcPts val="455"/>
              </a:spcAft>
              <a:defRPr sz="2068" b="1">
                <a:solidFill>
                  <a:srgbClr val="26323F"/>
                </a:solidFill>
                <a:latin typeface="Arial"/>
              </a:defRPr>
            </a:pPr>
            <a:r>
              <a:rPr>
                <a:latin typeface="Arial"/>
              </a:rPr>
              <a:t>Stopping on the previous robot</a:t>
            </a:r>
          </a:p>
        </p:txBody>
      </p:sp>
      <p:sp>
        <p:nvSpPr>
          <p:cNvPr id="9" name="TextBox 8"/>
          <p:cNvSpPr txBox="1"/>
          <p:nvPr/>
        </p:nvSpPr>
        <p:spPr>
          <a:xfrm>
            <a:off x="1428273" y="2041305"/>
            <a:ext cx="9582212" cy="326623"/>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Abrupt braking exposed a missing standing skill. Imitation improved quiet holding.</a:t>
            </a:r>
          </a:p>
        </p:txBody>
      </p:sp>
      <p:sp>
        <p:nvSpPr>
          <p:cNvPr id="10" name="TextBox 9"/>
          <p:cNvSpPr txBox="1"/>
          <p:nvPr/>
        </p:nvSpPr>
        <p:spPr>
          <a:xfrm>
            <a:off x="9428101" y="1723278"/>
            <a:ext cx="1934024" cy="275051"/>
          </a:xfrm>
          <a:prstGeom prst="rect">
            <a:avLst/>
          </a:prstGeom>
          <a:noFill/>
        </p:spPr>
        <p:txBody>
          <a:bodyPr wrap="square" lIns="0" rIns="0" tIns="0" bIns="0">
            <a:spAutoFit/>
          </a:bodyPr>
          <a:lstStyle/>
          <a:p>
            <a:pPr algn="r">
              <a:spcAft>
                <a:spcPts val="455"/>
              </a:spcAft>
              <a:defRPr sz="1222" b="1">
                <a:solidFill>
                  <a:srgbClr val="E2001A"/>
                </a:solidFill>
                <a:latin typeface="Arial"/>
              </a:defRPr>
            </a:pPr>
            <a:r>
              <a:rPr>
                <a:latin typeface="Arial"/>
              </a:rPr>
              <a:t>Older model</a:t>
            </a:r>
          </a:p>
        </p:txBody>
      </p:sp>
      <p:sp>
        <p:nvSpPr>
          <p:cNvPr id="11" name="Rounded Rectangle 10"/>
          <p:cNvSpPr/>
          <p:nvPr/>
        </p:nvSpPr>
        <p:spPr>
          <a:xfrm>
            <a:off x="812901" y="2453883"/>
            <a:ext cx="404386" cy="395386"/>
          </a:xfrm>
          <a:prstGeom prst="roundRect">
            <a:avLst>
              <a:gd name="adj" fmla="val 8000"/>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892020" y="2509752"/>
            <a:ext cx="237357" cy="257860"/>
          </a:xfrm>
          <a:prstGeom prst="rect">
            <a:avLst/>
          </a:prstGeom>
          <a:noFill/>
        </p:spPr>
        <p:txBody>
          <a:bodyPr wrap="square" lIns="0" rIns="0" tIns="0" bIns="0">
            <a:spAutoFit/>
          </a:bodyPr>
          <a:lstStyle/>
          <a:p>
            <a:pPr>
              <a:spcAft>
                <a:spcPts val="455"/>
              </a:spcAft>
              <a:defRPr sz="1691" b="1">
                <a:solidFill>
                  <a:srgbClr val="FFFFFF"/>
                </a:solidFill>
                <a:latin typeface="Arial"/>
              </a:defRPr>
            </a:pPr>
            <a:r>
              <a:rPr>
                <a:latin typeface="Arial"/>
              </a:rPr>
              <a:t>2</a:t>
            </a:r>
          </a:p>
        </p:txBody>
      </p:sp>
      <p:sp>
        <p:nvSpPr>
          <p:cNvPr id="13" name="TextBox 12"/>
          <p:cNvSpPr txBox="1"/>
          <p:nvPr/>
        </p:nvSpPr>
        <p:spPr>
          <a:xfrm>
            <a:off x="1428273" y="2436693"/>
            <a:ext cx="7648186" cy="300837"/>
          </a:xfrm>
          <a:prstGeom prst="rect">
            <a:avLst/>
          </a:prstGeom>
          <a:noFill/>
        </p:spPr>
        <p:txBody>
          <a:bodyPr wrap="square" lIns="0" rIns="0" tIns="0" bIns="0">
            <a:spAutoFit/>
          </a:bodyPr>
          <a:lstStyle/>
          <a:p>
            <a:pPr>
              <a:spcAft>
                <a:spcPts val="455"/>
              </a:spcAft>
              <a:defRPr sz="2068" b="1">
                <a:solidFill>
                  <a:srgbClr val="26323F"/>
                </a:solidFill>
                <a:latin typeface="Arial"/>
              </a:defRPr>
            </a:pPr>
            <a:r>
              <a:rPr>
                <a:latin typeface="Arial"/>
              </a:rPr>
              <a:t>New CAD and gait discovery</a:t>
            </a:r>
          </a:p>
        </p:txBody>
      </p:sp>
      <p:sp>
        <p:nvSpPr>
          <p:cNvPr id="14" name="TextBox 13"/>
          <p:cNvSpPr txBox="1"/>
          <p:nvPr/>
        </p:nvSpPr>
        <p:spPr>
          <a:xfrm>
            <a:off x="1428273" y="2763315"/>
            <a:ext cx="9582212" cy="326623"/>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Correct inertials and closed loops; investigate dragging, asymmetry and micro-steps.</a:t>
            </a:r>
          </a:p>
        </p:txBody>
      </p:sp>
      <p:sp>
        <p:nvSpPr>
          <p:cNvPr id="15" name="TextBox 14"/>
          <p:cNvSpPr txBox="1"/>
          <p:nvPr/>
        </p:nvSpPr>
        <p:spPr>
          <a:xfrm>
            <a:off x="9428101" y="2445288"/>
            <a:ext cx="1934024" cy="275051"/>
          </a:xfrm>
          <a:prstGeom prst="rect">
            <a:avLst/>
          </a:prstGeom>
          <a:noFill/>
        </p:spPr>
        <p:txBody>
          <a:bodyPr wrap="square" lIns="0" rIns="0" tIns="0" bIns="0">
            <a:spAutoFit/>
          </a:bodyPr>
          <a:lstStyle/>
          <a:p>
            <a:pPr algn="r">
              <a:spcAft>
                <a:spcPts val="455"/>
              </a:spcAft>
              <a:defRPr sz="1222" b="1">
                <a:solidFill>
                  <a:srgbClr val="E2001A"/>
                </a:solidFill>
                <a:latin typeface="Arial"/>
              </a:defRPr>
            </a:pPr>
            <a:r>
              <a:rPr>
                <a:latin typeface="Arial"/>
              </a:rPr>
              <a:t>Model + diagnosis</a:t>
            </a:r>
          </a:p>
        </p:txBody>
      </p:sp>
      <p:sp>
        <p:nvSpPr>
          <p:cNvPr id="16" name="Rounded Rectangle 15"/>
          <p:cNvSpPr/>
          <p:nvPr/>
        </p:nvSpPr>
        <p:spPr>
          <a:xfrm>
            <a:off x="812901" y="3175894"/>
            <a:ext cx="404386" cy="395386"/>
          </a:xfrm>
          <a:prstGeom prst="roundRect">
            <a:avLst>
              <a:gd name="adj" fmla="val 8000"/>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892020" y="3231763"/>
            <a:ext cx="237357" cy="257860"/>
          </a:xfrm>
          <a:prstGeom prst="rect">
            <a:avLst/>
          </a:prstGeom>
          <a:noFill/>
        </p:spPr>
        <p:txBody>
          <a:bodyPr wrap="square" lIns="0" rIns="0" tIns="0" bIns="0">
            <a:spAutoFit/>
          </a:bodyPr>
          <a:lstStyle/>
          <a:p>
            <a:pPr>
              <a:spcAft>
                <a:spcPts val="455"/>
              </a:spcAft>
              <a:defRPr sz="1691" b="1">
                <a:solidFill>
                  <a:srgbClr val="FFFFFF"/>
                </a:solidFill>
                <a:latin typeface="Arial"/>
              </a:defRPr>
            </a:pPr>
            <a:r>
              <a:rPr>
                <a:latin typeface="Arial"/>
              </a:rPr>
              <a:t>3</a:t>
            </a:r>
          </a:p>
        </p:txBody>
      </p:sp>
      <p:sp>
        <p:nvSpPr>
          <p:cNvPr id="18" name="TextBox 17"/>
          <p:cNvSpPr txBox="1"/>
          <p:nvPr/>
        </p:nvSpPr>
        <p:spPr>
          <a:xfrm>
            <a:off x="1428273" y="3158703"/>
            <a:ext cx="7648186" cy="300837"/>
          </a:xfrm>
          <a:prstGeom prst="rect">
            <a:avLst/>
          </a:prstGeom>
          <a:noFill/>
        </p:spPr>
        <p:txBody>
          <a:bodyPr wrap="square" lIns="0" rIns="0" tIns="0" bIns="0">
            <a:spAutoFit/>
          </a:bodyPr>
          <a:lstStyle/>
          <a:p>
            <a:pPr>
              <a:spcAft>
                <a:spcPts val="455"/>
              </a:spcAft>
              <a:defRPr sz="2068" b="1">
                <a:solidFill>
                  <a:srgbClr val="26323F"/>
                </a:solidFill>
                <a:latin typeface="Arial"/>
              </a:defRPr>
            </a:pPr>
            <a:r>
              <a:rPr>
                <a:latin typeface="Arial"/>
              </a:rPr>
              <a:t>Reproduce the walking recipe</a:t>
            </a:r>
          </a:p>
        </p:txBody>
      </p:sp>
      <p:sp>
        <p:nvSpPr>
          <p:cNvPr id="19" name="TextBox 18"/>
          <p:cNvSpPr txBox="1"/>
          <p:nvPr/>
        </p:nvSpPr>
        <p:spPr>
          <a:xfrm>
            <a:off x="1428273" y="3485327"/>
            <a:ext cx="9582212" cy="326623"/>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Recover sustained commanded locomotion on CAD-v2 from the supplied homing pose.</a:t>
            </a:r>
          </a:p>
        </p:txBody>
      </p:sp>
      <p:sp>
        <p:nvSpPr>
          <p:cNvPr id="20" name="TextBox 19"/>
          <p:cNvSpPr txBox="1"/>
          <p:nvPr/>
        </p:nvSpPr>
        <p:spPr>
          <a:xfrm>
            <a:off x="9428101" y="3167298"/>
            <a:ext cx="1934024" cy="275051"/>
          </a:xfrm>
          <a:prstGeom prst="rect">
            <a:avLst/>
          </a:prstGeom>
          <a:noFill/>
        </p:spPr>
        <p:txBody>
          <a:bodyPr wrap="square" lIns="0" rIns="0" tIns="0" bIns="0">
            <a:spAutoFit/>
          </a:bodyPr>
          <a:lstStyle/>
          <a:p>
            <a:pPr algn="r">
              <a:spcAft>
                <a:spcPts val="455"/>
              </a:spcAft>
              <a:defRPr sz="1222" b="1">
                <a:solidFill>
                  <a:srgbClr val="E2001A"/>
                </a:solidFill>
                <a:latin typeface="Arial"/>
              </a:defRPr>
            </a:pPr>
            <a:r>
              <a:rPr>
                <a:latin typeface="Arial"/>
              </a:rPr>
              <a:t>WALK-01</a:t>
            </a:r>
          </a:p>
        </p:txBody>
      </p:sp>
      <p:sp>
        <p:nvSpPr>
          <p:cNvPr id="21" name="Rounded Rectangle 20"/>
          <p:cNvSpPr/>
          <p:nvPr/>
        </p:nvSpPr>
        <p:spPr>
          <a:xfrm>
            <a:off x="812901" y="3897904"/>
            <a:ext cx="404386" cy="395386"/>
          </a:xfrm>
          <a:prstGeom prst="roundRect">
            <a:avLst>
              <a:gd name="adj" fmla="val 8000"/>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892020" y="3953774"/>
            <a:ext cx="237357" cy="257860"/>
          </a:xfrm>
          <a:prstGeom prst="rect">
            <a:avLst/>
          </a:prstGeom>
          <a:noFill/>
        </p:spPr>
        <p:txBody>
          <a:bodyPr wrap="square" lIns="0" rIns="0" tIns="0" bIns="0">
            <a:spAutoFit/>
          </a:bodyPr>
          <a:lstStyle/>
          <a:p>
            <a:pPr>
              <a:spcAft>
                <a:spcPts val="455"/>
              </a:spcAft>
              <a:defRPr sz="1691" b="1">
                <a:solidFill>
                  <a:srgbClr val="FFFFFF"/>
                </a:solidFill>
                <a:latin typeface="Arial"/>
              </a:defRPr>
            </a:pPr>
            <a:r>
              <a:rPr>
                <a:latin typeface="Arial"/>
              </a:rPr>
              <a:t>4</a:t>
            </a:r>
          </a:p>
        </p:txBody>
      </p:sp>
      <p:sp>
        <p:nvSpPr>
          <p:cNvPr id="23" name="TextBox 22"/>
          <p:cNvSpPr txBox="1"/>
          <p:nvPr/>
        </p:nvSpPr>
        <p:spPr>
          <a:xfrm>
            <a:off x="1428273" y="3880713"/>
            <a:ext cx="7648186" cy="300837"/>
          </a:xfrm>
          <a:prstGeom prst="rect">
            <a:avLst/>
          </a:prstGeom>
          <a:noFill/>
        </p:spPr>
        <p:txBody>
          <a:bodyPr wrap="square" lIns="0" rIns="0" tIns="0" bIns="0">
            <a:spAutoFit/>
          </a:bodyPr>
          <a:lstStyle/>
          <a:p>
            <a:pPr>
              <a:spcAft>
                <a:spcPts val="455"/>
              </a:spcAft>
              <a:defRPr sz="2068" b="1">
                <a:solidFill>
                  <a:srgbClr val="26323F"/>
                </a:solidFill>
                <a:latin typeface="Arial"/>
              </a:defRPr>
            </a:pPr>
            <a:r>
              <a:rPr>
                <a:latin typeface="Arial"/>
              </a:rPr>
              <a:t>Measure real heel/toe support</a:t>
            </a:r>
          </a:p>
        </p:txBody>
      </p:sp>
      <p:sp>
        <p:nvSpPr>
          <p:cNvPr id="24" name="TextBox 23"/>
          <p:cNvSpPr txBox="1"/>
          <p:nvPr/>
        </p:nvSpPr>
        <p:spPr>
          <a:xfrm>
            <a:off x="1428273" y="4207337"/>
            <a:ext cx="9582212" cy="326623"/>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Add contact-based slip, completed-cycle symmetry and mid-stance flat support.</a:t>
            </a:r>
          </a:p>
        </p:txBody>
      </p:sp>
      <p:sp>
        <p:nvSpPr>
          <p:cNvPr id="25" name="TextBox 24"/>
          <p:cNvSpPr txBox="1"/>
          <p:nvPr/>
        </p:nvSpPr>
        <p:spPr>
          <a:xfrm>
            <a:off x="9428101" y="3889308"/>
            <a:ext cx="1934024" cy="275051"/>
          </a:xfrm>
          <a:prstGeom prst="rect">
            <a:avLst/>
          </a:prstGeom>
          <a:noFill/>
        </p:spPr>
        <p:txBody>
          <a:bodyPr wrap="square" lIns="0" rIns="0" tIns="0" bIns="0">
            <a:spAutoFit/>
          </a:bodyPr>
          <a:lstStyle/>
          <a:p>
            <a:pPr algn="r">
              <a:spcAft>
                <a:spcPts val="455"/>
              </a:spcAft>
              <a:defRPr sz="1222" b="1">
                <a:solidFill>
                  <a:srgbClr val="E2001A"/>
                </a:solidFill>
                <a:latin typeface="Arial"/>
              </a:defRPr>
            </a:pPr>
            <a:r>
              <a:rPr>
                <a:latin typeface="Arial"/>
              </a:rPr>
              <a:t>Flat-feet baseline</a:t>
            </a:r>
          </a:p>
        </p:txBody>
      </p:sp>
      <p:sp>
        <p:nvSpPr>
          <p:cNvPr id="26" name="Rounded Rectangle 25"/>
          <p:cNvSpPr/>
          <p:nvPr/>
        </p:nvSpPr>
        <p:spPr>
          <a:xfrm>
            <a:off x="812901" y="4619914"/>
            <a:ext cx="404386" cy="395386"/>
          </a:xfrm>
          <a:prstGeom prst="roundRect">
            <a:avLst>
              <a:gd name="adj" fmla="val 8000"/>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7" name="TextBox 26"/>
          <p:cNvSpPr txBox="1"/>
          <p:nvPr/>
        </p:nvSpPr>
        <p:spPr>
          <a:xfrm>
            <a:off x="892020" y="4675784"/>
            <a:ext cx="237357" cy="257860"/>
          </a:xfrm>
          <a:prstGeom prst="rect">
            <a:avLst/>
          </a:prstGeom>
          <a:noFill/>
        </p:spPr>
        <p:txBody>
          <a:bodyPr wrap="square" lIns="0" rIns="0" tIns="0" bIns="0">
            <a:spAutoFit/>
          </a:bodyPr>
          <a:lstStyle/>
          <a:p>
            <a:pPr>
              <a:spcAft>
                <a:spcPts val="455"/>
              </a:spcAft>
              <a:defRPr sz="1691" b="1">
                <a:solidFill>
                  <a:srgbClr val="FFFFFF"/>
                </a:solidFill>
                <a:latin typeface="Arial"/>
              </a:defRPr>
            </a:pPr>
            <a:r>
              <a:rPr>
                <a:latin typeface="Arial"/>
              </a:rPr>
              <a:t>5</a:t>
            </a:r>
          </a:p>
        </p:txBody>
      </p:sp>
      <p:sp>
        <p:nvSpPr>
          <p:cNvPr id="28" name="TextBox 27"/>
          <p:cNvSpPr txBox="1"/>
          <p:nvPr/>
        </p:nvSpPr>
        <p:spPr>
          <a:xfrm>
            <a:off x="1428273" y="4602723"/>
            <a:ext cx="7648186" cy="300837"/>
          </a:xfrm>
          <a:prstGeom prst="rect">
            <a:avLst/>
          </a:prstGeom>
          <a:noFill/>
        </p:spPr>
        <p:txBody>
          <a:bodyPr wrap="square" lIns="0" rIns="0" tIns="0" bIns="0">
            <a:spAutoFit/>
          </a:bodyPr>
          <a:lstStyle/>
          <a:p>
            <a:pPr>
              <a:spcAft>
                <a:spcPts val="455"/>
              </a:spcAft>
              <a:defRPr sz="2068" b="1">
                <a:solidFill>
                  <a:srgbClr val="26323F"/>
                </a:solidFill>
                <a:latin typeface="Arial"/>
              </a:defRPr>
            </a:pPr>
            <a:r>
              <a:rPr>
                <a:latin typeface="Arial"/>
              </a:rPr>
              <a:t>Shape the swing trajectory</a:t>
            </a:r>
          </a:p>
        </p:txBody>
      </p:sp>
      <p:sp>
        <p:nvSpPr>
          <p:cNvPr id="29" name="TextBox 28"/>
          <p:cNvSpPr txBox="1"/>
          <p:nvPr/>
        </p:nvSpPr>
        <p:spPr>
          <a:xfrm>
            <a:off x="1428273" y="4929347"/>
            <a:ext cx="9582212" cy="326623"/>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Measure clearance; teach higher lift, then target a smaller height band.</a:t>
            </a:r>
          </a:p>
        </p:txBody>
      </p:sp>
      <p:sp>
        <p:nvSpPr>
          <p:cNvPr id="30" name="TextBox 29"/>
          <p:cNvSpPr txBox="1"/>
          <p:nvPr/>
        </p:nvSpPr>
        <p:spPr>
          <a:xfrm>
            <a:off x="9428101" y="4611319"/>
            <a:ext cx="1934024" cy="275051"/>
          </a:xfrm>
          <a:prstGeom prst="rect">
            <a:avLst/>
          </a:prstGeom>
          <a:noFill/>
        </p:spPr>
        <p:txBody>
          <a:bodyPr wrap="square" lIns="0" rIns="0" tIns="0" bIns="0">
            <a:spAutoFit/>
          </a:bodyPr>
          <a:lstStyle/>
          <a:p>
            <a:pPr algn="r">
              <a:spcAft>
                <a:spcPts val="455"/>
              </a:spcAft>
              <a:defRPr sz="1222" b="1">
                <a:solidFill>
                  <a:srgbClr val="E2001A"/>
                </a:solidFill>
                <a:latin typeface="Arial"/>
              </a:defRPr>
            </a:pPr>
            <a:r>
              <a:rPr>
                <a:latin typeface="Arial"/>
              </a:rPr>
              <a:t>CLEARANCE-01 / 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Walking policies: visual evolution</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8</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Same 1.50 m/s command; different trained policies. Click each clip to play.</a:t>
            </a:r>
          </a:p>
        </p:txBody>
      </p:sp>
      <p:sp>
        <p:nvSpPr>
          <p:cNvPr id="6" name="TextBox 5"/>
          <p:cNvSpPr txBox="1"/>
          <p:nvPr/>
        </p:nvSpPr>
        <p:spPr>
          <a:xfrm>
            <a:off x="812901" y="1714682"/>
            <a:ext cx="5116373" cy="369600"/>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Walking reproduction</a:t>
            </a:r>
          </a:p>
        </p:txBody>
      </p:sp>
      <p:sp>
        <p:nvSpPr>
          <p:cNvPr id="7" name="TextBox 6"/>
          <p:cNvSpPr txBox="1"/>
          <p:nvPr/>
        </p:nvSpPr>
        <p:spPr>
          <a:xfrm>
            <a:off x="812901" y="2110069"/>
            <a:ext cx="5116373" cy="240670"/>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WALK-01 best · checkpoint 169.57M</a:t>
            </a:r>
          </a:p>
        </p:txBody>
      </p:sp>
      <p:pic>
        <p:nvPicPr>
          <p:cNvPr id="8" name="walk01.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12901" y="2600004"/>
            <a:ext cx="5133955" cy="2337937"/>
          </a:xfrm>
          <a:prstGeom prst="rect">
            <a:avLst/>
          </a:prstGeom>
        </p:spPr>
      </p:pic>
      <p:sp>
        <p:nvSpPr>
          <p:cNvPr id="9" name="TextBox 8"/>
          <p:cNvSpPr txBox="1"/>
          <p:nvPr/>
        </p:nvSpPr>
        <p:spPr>
          <a:xfrm>
            <a:off x="6236961" y="1714682"/>
            <a:ext cx="5116373" cy="369600"/>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Flat-feet baseline</a:t>
            </a:r>
          </a:p>
        </p:txBody>
      </p:sp>
      <p:sp>
        <p:nvSpPr>
          <p:cNvPr id="10" name="TextBox 9"/>
          <p:cNvSpPr txBox="1"/>
          <p:nvPr/>
        </p:nvSpPr>
        <p:spPr>
          <a:xfrm>
            <a:off x="6236961" y="2110069"/>
            <a:ext cx="5116373" cy="326623"/>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Best checkpoint 184.32M · later used for fine-tuning</a:t>
            </a:r>
          </a:p>
        </p:txBody>
      </p:sp>
      <p:pic>
        <p:nvPicPr>
          <p:cNvPr id="11" name="flatfeet.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6236961" y="2600004"/>
            <a:ext cx="5133955" cy="2337937"/>
          </a:xfrm>
          <a:prstGeom prst="rect">
            <a:avLst/>
          </a:prstGeom>
        </p:spPr>
      </p:pic>
      <p:sp>
        <p:nvSpPr>
          <p:cNvPr id="12" name="TextBox 11"/>
          <p:cNvSpPr txBox="1"/>
          <p:nvPr/>
        </p:nvSpPr>
        <p:spPr>
          <a:xfrm>
            <a:off x="812901" y="5187208"/>
            <a:ext cx="10549224" cy="257860"/>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Simulation · nominal MJX replays · 12 s excerpts (t = 6–18 s) · 1× playback</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video>
              <p:cMediaNode vol="80000">
                <p:cTn id="3" fill="hold" display="0">
                  <p:stCondLst>
                    <p:cond delay="indefinite"/>
                  </p:stCondLst>
                </p:cTn>
                <p:tgtEl>
                  <p:spTgt spid="11"/>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Speed tracking</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9</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A better tracking score does not automatically mean a clean or transferable gait.</a:t>
            </a:r>
          </a:p>
        </p:txBody>
      </p:sp>
      <p:pic>
        <p:nvPicPr>
          <p:cNvPr id="6" name="Picture 5" descr="tracking.png"/>
          <p:cNvPicPr>
            <a:picLocks noChangeAspect="1"/>
          </p:cNvPicPr>
          <p:nvPr/>
        </p:nvPicPr>
        <p:blipFill>
          <a:blip r:embed="rId2"/>
          <a:stretch>
            <a:fillRect/>
          </a:stretch>
        </p:blipFill>
        <p:spPr>
          <a:xfrm>
            <a:off x="834879" y="1774850"/>
            <a:ext cx="7384457" cy="3610051"/>
          </a:xfrm>
          <a:prstGeom prst="rect">
            <a:avLst/>
          </a:prstGeom>
        </p:spPr>
      </p:pic>
      <p:sp>
        <p:nvSpPr>
          <p:cNvPr id="7" name="Rounded Rectangle 6"/>
          <p:cNvSpPr/>
          <p:nvPr/>
        </p:nvSpPr>
        <p:spPr>
          <a:xfrm>
            <a:off x="8575372" y="1817827"/>
            <a:ext cx="2795544" cy="33178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8777565" y="2032711"/>
            <a:ext cx="2391157" cy="343814"/>
          </a:xfrm>
          <a:prstGeom prst="rect">
            <a:avLst/>
          </a:prstGeom>
          <a:noFill/>
        </p:spPr>
        <p:txBody>
          <a:bodyPr wrap="square" lIns="0" rIns="0" tIns="0" bIns="0">
            <a:spAutoFit/>
          </a:bodyPr>
          <a:lstStyle/>
          <a:p>
            <a:pPr>
              <a:spcAft>
                <a:spcPts val="455"/>
              </a:spcAft>
              <a:defRPr sz="1879" b="1">
                <a:solidFill>
                  <a:srgbClr val="26323F"/>
                </a:solidFill>
                <a:latin typeface="Arial"/>
              </a:defRPr>
            </a:pPr>
            <a:r>
              <a:rPr>
                <a:latin typeface="Arial"/>
              </a:rPr>
              <a:t>Mean speed error</a:t>
            </a:r>
          </a:p>
        </p:txBody>
      </p:sp>
      <p:sp>
        <p:nvSpPr>
          <p:cNvPr id="9" name="TextBox 8"/>
          <p:cNvSpPr txBox="1"/>
          <p:nvPr/>
        </p:nvSpPr>
        <p:spPr>
          <a:xfrm>
            <a:off x="8777565" y="2548432"/>
            <a:ext cx="2391157" cy="601675"/>
          </a:xfrm>
          <a:prstGeom prst="rect">
            <a:avLst/>
          </a:prstGeom>
          <a:noFill/>
        </p:spPr>
        <p:txBody>
          <a:bodyPr wrap="square" lIns="0" rIns="0" tIns="0" bIns="0">
            <a:spAutoFit/>
          </a:bodyPr>
          <a:lstStyle/>
          <a:p>
            <a:pPr>
              <a:spcAft>
                <a:spcPts val="455"/>
              </a:spcAft>
              <a:defRPr sz="2726" b="1">
                <a:solidFill>
                  <a:srgbClr val="E2001A"/>
                </a:solidFill>
                <a:latin typeface="Arial"/>
              </a:defRPr>
            </a:pPr>
            <a:r>
              <a:rPr>
                <a:latin typeface="Arial"/>
              </a:rPr>
              <a:t>0.181 → 0.049</a:t>
            </a:r>
          </a:p>
        </p:txBody>
      </p:sp>
      <p:sp>
        <p:nvSpPr>
          <p:cNvPr id="10" name="TextBox 9"/>
          <p:cNvSpPr txBox="1"/>
          <p:nvPr/>
        </p:nvSpPr>
        <p:spPr>
          <a:xfrm>
            <a:off x="8777565" y="3175894"/>
            <a:ext cx="2391157" cy="515721"/>
          </a:xfrm>
          <a:prstGeom prst="rect">
            <a:avLst/>
          </a:prstGeom>
          <a:noFill/>
        </p:spPr>
        <p:txBody>
          <a:bodyPr wrap="square" lIns="0" rIns="0" tIns="0" bIns="0">
            <a:spAutoFit/>
          </a:bodyPr>
          <a:lstStyle/>
          <a:p>
            <a:pPr>
              <a:spcAft>
                <a:spcPts val="455"/>
              </a:spcAft>
              <a:defRPr sz="1691" b="0">
                <a:solidFill>
                  <a:srgbClr val="5A626D"/>
                </a:solidFill>
                <a:latin typeface="Arial"/>
              </a:defRPr>
            </a:pPr>
            <a:r>
              <a:rPr>
                <a:latin typeface="Arial"/>
              </a:rPr>
              <a:t>m/s across the speed ladder</a:t>
            </a:r>
          </a:p>
        </p:txBody>
      </p:sp>
      <p:sp>
        <p:nvSpPr>
          <p:cNvPr id="11" name="TextBox 10"/>
          <p:cNvSpPr txBox="1"/>
          <p:nvPr/>
        </p:nvSpPr>
        <p:spPr>
          <a:xfrm>
            <a:off x="8777565" y="3811950"/>
            <a:ext cx="2391157" cy="515721"/>
          </a:xfrm>
          <a:prstGeom prst="rect">
            <a:avLst/>
          </a:prstGeom>
          <a:noFill/>
        </p:spPr>
        <p:txBody>
          <a:bodyPr wrap="square" lIns="0" rIns="0" tIns="0" bIns="0">
            <a:spAutoFit/>
          </a:bodyPr>
          <a:lstStyle/>
          <a:p>
            <a:pPr>
              <a:spcAft>
                <a:spcPts val="455"/>
              </a:spcAft>
              <a:defRPr sz="3008" b="1">
                <a:solidFill>
                  <a:srgbClr val="26323F"/>
                </a:solidFill>
                <a:latin typeface="Arial"/>
              </a:defRPr>
            </a:pPr>
            <a:r>
              <a:rPr>
                <a:latin typeface="Arial"/>
              </a:rPr>
              <a:t>28 / 28</a:t>
            </a:r>
          </a:p>
        </p:txBody>
      </p:sp>
      <p:sp>
        <p:nvSpPr>
          <p:cNvPr id="12" name="TextBox 11"/>
          <p:cNvSpPr txBox="1"/>
          <p:nvPr/>
        </p:nvSpPr>
        <p:spPr>
          <a:xfrm>
            <a:off x="8777565" y="4379244"/>
            <a:ext cx="2391157" cy="601675"/>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full 30 s trials</a:t>
            </a:r>
          </a:p>
          <a:p>
            <a:pPr>
              <a:spcAft>
                <a:spcPts val="455"/>
              </a:spcAft>
              <a:defRPr sz="1597" b="0">
                <a:solidFill>
                  <a:srgbClr val="5A626D"/>
                </a:solidFill>
                <a:latin typeface="Arial"/>
              </a:defRPr>
            </a:pPr>
            <a:r>
              <a:rPr>
                <a:latin typeface="Arial"/>
              </a:rPr>
              <a:t>both best policies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Foot clearance: first results</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10</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Promising swing motion in simulation; startup reliability still needs investigation.</a:t>
            </a:r>
          </a:p>
        </p:txBody>
      </p:sp>
      <p:pic>
        <p:nvPicPr>
          <p:cNvPr id="6" name="clearance01.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12901" y="1860803"/>
            <a:ext cx="7138307" cy="3249046"/>
          </a:xfrm>
          <a:prstGeom prst="rect">
            <a:avLst/>
          </a:prstGeom>
        </p:spPr>
      </p:pic>
      <p:sp>
        <p:nvSpPr>
          <p:cNvPr id="7" name="TextBox 6"/>
          <p:cNvSpPr txBox="1"/>
          <p:nvPr/>
        </p:nvSpPr>
        <p:spPr>
          <a:xfrm>
            <a:off x="8258894" y="1835017"/>
            <a:ext cx="3120812" cy="361005"/>
          </a:xfrm>
          <a:prstGeom prst="rect">
            <a:avLst/>
          </a:prstGeom>
          <a:noFill/>
        </p:spPr>
        <p:txBody>
          <a:bodyPr wrap="square" lIns="0" rIns="0" tIns="0" bIns="0">
            <a:spAutoFit/>
          </a:bodyPr>
          <a:lstStyle/>
          <a:p>
            <a:pPr>
              <a:spcAft>
                <a:spcPts val="455"/>
              </a:spcAft>
              <a:defRPr sz="2161" b="1">
                <a:solidFill>
                  <a:srgbClr val="26323F"/>
                </a:solidFill>
                <a:latin typeface="Arial"/>
              </a:defRPr>
            </a:pPr>
            <a:r>
              <a:rPr>
                <a:latin typeface="Arial"/>
              </a:rPr>
              <a:t>Mean airborne lift</a:t>
            </a:r>
          </a:p>
        </p:txBody>
      </p:sp>
      <p:sp>
        <p:nvSpPr>
          <p:cNvPr id="8" name="TextBox 7"/>
          <p:cNvSpPr txBox="1"/>
          <p:nvPr/>
        </p:nvSpPr>
        <p:spPr>
          <a:xfrm>
            <a:off x="8258894" y="2393716"/>
            <a:ext cx="3120812" cy="558698"/>
          </a:xfrm>
          <a:prstGeom prst="rect">
            <a:avLst/>
          </a:prstGeom>
          <a:noFill/>
        </p:spPr>
        <p:txBody>
          <a:bodyPr wrap="square" lIns="0" rIns="0" tIns="0" bIns="0">
            <a:spAutoFit/>
          </a:bodyPr>
          <a:lstStyle/>
          <a:p>
            <a:pPr>
              <a:spcAft>
                <a:spcPts val="455"/>
              </a:spcAft>
              <a:defRPr sz="3572" b="1">
                <a:solidFill>
                  <a:srgbClr val="168BD2"/>
                </a:solidFill>
                <a:latin typeface="Arial"/>
              </a:defRPr>
            </a:pPr>
            <a:r>
              <a:rPr>
                <a:latin typeface="Arial"/>
              </a:rPr>
              <a:t>23.6 mm</a:t>
            </a:r>
          </a:p>
        </p:txBody>
      </p:sp>
      <p:sp>
        <p:nvSpPr>
          <p:cNvPr id="9" name="TextBox 8"/>
          <p:cNvSpPr txBox="1"/>
          <p:nvPr/>
        </p:nvSpPr>
        <p:spPr>
          <a:xfrm>
            <a:off x="8258894" y="2969605"/>
            <a:ext cx="3120812" cy="335219"/>
          </a:xfrm>
          <a:prstGeom prst="rect">
            <a:avLst/>
          </a:prstGeom>
          <a:noFill/>
        </p:spPr>
        <p:txBody>
          <a:bodyPr wrap="square" lIns="0" rIns="0" tIns="0" bIns="0">
            <a:spAutoFit/>
          </a:bodyPr>
          <a:lstStyle/>
          <a:p>
            <a:pPr>
              <a:spcAft>
                <a:spcPts val="455"/>
              </a:spcAft>
              <a:defRPr sz="1691" b="0">
                <a:solidFill>
                  <a:srgbClr val="5A626D"/>
                </a:solidFill>
                <a:latin typeface="Arial"/>
              </a:defRPr>
            </a:pPr>
            <a:r>
              <a:rPr>
                <a:latin typeface="Arial"/>
              </a:rPr>
              <a:t>left  (baseline: 2.46 mm)</a:t>
            </a:r>
          </a:p>
        </p:txBody>
      </p:sp>
      <p:sp>
        <p:nvSpPr>
          <p:cNvPr id="10" name="TextBox 9"/>
          <p:cNvSpPr txBox="1"/>
          <p:nvPr/>
        </p:nvSpPr>
        <p:spPr>
          <a:xfrm>
            <a:off x="8258894" y="3493922"/>
            <a:ext cx="3120812" cy="558698"/>
          </a:xfrm>
          <a:prstGeom prst="rect">
            <a:avLst/>
          </a:prstGeom>
          <a:noFill/>
        </p:spPr>
        <p:txBody>
          <a:bodyPr wrap="square" lIns="0" rIns="0" tIns="0" bIns="0">
            <a:spAutoFit/>
          </a:bodyPr>
          <a:lstStyle/>
          <a:p>
            <a:pPr>
              <a:spcAft>
                <a:spcPts val="455"/>
              </a:spcAft>
              <a:defRPr sz="3572" b="1">
                <a:solidFill>
                  <a:srgbClr val="EF8018"/>
                </a:solidFill>
                <a:latin typeface="Arial"/>
              </a:defRPr>
            </a:pPr>
            <a:r>
              <a:rPr>
                <a:latin typeface="Arial"/>
              </a:rPr>
              <a:t>20.9 mm</a:t>
            </a:r>
          </a:p>
        </p:txBody>
      </p:sp>
      <p:sp>
        <p:nvSpPr>
          <p:cNvPr id="11" name="TextBox 10"/>
          <p:cNvSpPr txBox="1"/>
          <p:nvPr/>
        </p:nvSpPr>
        <p:spPr>
          <a:xfrm>
            <a:off x="8258894" y="4069811"/>
            <a:ext cx="3120812" cy="335219"/>
          </a:xfrm>
          <a:prstGeom prst="rect">
            <a:avLst/>
          </a:prstGeom>
          <a:noFill/>
        </p:spPr>
        <p:txBody>
          <a:bodyPr wrap="square" lIns="0" rIns="0" tIns="0" bIns="0">
            <a:spAutoFit/>
          </a:bodyPr>
          <a:lstStyle/>
          <a:p>
            <a:pPr>
              <a:spcAft>
                <a:spcPts val="455"/>
              </a:spcAft>
              <a:defRPr sz="1691" b="0">
                <a:solidFill>
                  <a:srgbClr val="5A626D"/>
                </a:solidFill>
                <a:latin typeface="Arial"/>
              </a:defRPr>
            </a:pPr>
            <a:r>
              <a:rPr>
                <a:latin typeface="Arial"/>
              </a:rPr>
              <a:t>right  (baseline: 2.25 mm)</a:t>
            </a:r>
          </a:p>
        </p:txBody>
      </p:sp>
      <p:sp>
        <p:nvSpPr>
          <p:cNvPr id="12" name="TextBox 11"/>
          <p:cNvSpPr txBox="1"/>
          <p:nvPr/>
        </p:nvSpPr>
        <p:spPr>
          <a:xfrm>
            <a:off x="8258894" y="4645700"/>
            <a:ext cx="3120812" cy="653247"/>
          </a:xfrm>
          <a:prstGeom prst="rect">
            <a:avLst/>
          </a:prstGeom>
          <a:noFill/>
        </p:spPr>
        <p:txBody>
          <a:bodyPr wrap="square" lIns="0" rIns="0" tIns="0" bIns="0">
            <a:spAutoFit/>
          </a:bodyPr>
          <a:lstStyle/>
          <a:p>
            <a:pPr>
              <a:spcAft>
                <a:spcPts val="455"/>
              </a:spcAft>
              <a:defRPr sz="1879" b="1">
                <a:solidFill>
                  <a:srgbClr val="26323F"/>
                </a:solidFill>
                <a:latin typeface="Arial"/>
              </a:defRPr>
            </a:pPr>
            <a:r>
              <a:rPr>
                <a:latin typeface="Arial"/>
              </a:rPr>
              <a:t>+50M training steps</a:t>
            </a:r>
          </a:p>
          <a:p>
            <a:pPr>
              <a:spcAft>
                <a:spcPts val="455"/>
              </a:spcAft>
              <a:defRPr sz="1879" b="1">
                <a:solidFill>
                  <a:srgbClr val="26323F"/>
                </a:solidFill>
                <a:latin typeface="Arial"/>
              </a:defRPr>
            </a:pPr>
            <a:r>
              <a:rPr>
                <a:latin typeface="Arial"/>
              </a:rPr>
              <a:t>Target: 1.50 m/s</a:t>
            </a:r>
          </a:p>
        </p:txBody>
      </p:sp>
      <p:sp>
        <p:nvSpPr>
          <p:cNvPr id="13" name="TextBox 12"/>
          <p:cNvSpPr txBox="1"/>
          <p:nvPr/>
        </p:nvSpPr>
        <p:spPr>
          <a:xfrm>
            <a:off x="812901" y="5264566"/>
            <a:ext cx="7252591" cy="240670"/>
          </a:xfrm>
          <a:prstGeom prst="rect">
            <a:avLst/>
          </a:prstGeom>
          <a:noFill/>
        </p:spPr>
        <p:txBody>
          <a:bodyPr wrap="square" lIns="0" rIns="0" tIns="0" bIns="0">
            <a:spAutoFit/>
          </a:bodyPr>
          <a:lstStyle/>
          <a:p>
            <a:pPr>
              <a:spcAft>
                <a:spcPts val="455"/>
              </a:spcAft>
              <a:defRPr sz="1410" b="0">
                <a:solidFill>
                  <a:srgbClr val="5A626D"/>
                </a:solidFill>
                <a:latin typeface="Arial"/>
              </a:defRPr>
            </a:pPr>
            <a:r>
              <a:rPr>
                <a:latin typeface="Arial"/>
              </a:rPr>
              <a:t>Evaluation-protocol replay · trial 0 / 12 · t = 6–18 s · 1×</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Next training objective</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11</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CLEARANCE-02 starts again from the flat-feet baseline, not the high-lift policy.</a:t>
            </a:r>
          </a:p>
        </p:txBody>
      </p:sp>
      <p:pic>
        <p:nvPicPr>
          <p:cNvPr id="6" name="Picture 5" descr="clearance.png"/>
          <p:cNvPicPr>
            <a:picLocks noChangeAspect="1"/>
          </p:cNvPicPr>
          <p:nvPr/>
        </p:nvPicPr>
        <p:blipFill>
          <a:blip r:embed="rId2"/>
          <a:stretch>
            <a:fillRect/>
          </a:stretch>
        </p:blipFill>
        <p:spPr>
          <a:xfrm>
            <a:off x="947610" y="1688896"/>
            <a:ext cx="6763397" cy="3876507"/>
          </a:xfrm>
          <a:prstGeom prst="rect">
            <a:avLst/>
          </a:prstGeom>
        </p:spPr>
      </p:pic>
      <p:sp>
        <p:nvSpPr>
          <p:cNvPr id="7" name="Rounded Rectangle 6"/>
          <p:cNvSpPr/>
          <p:nvPr/>
        </p:nvSpPr>
        <p:spPr>
          <a:xfrm>
            <a:off x="8188566" y="1774850"/>
            <a:ext cx="3182349" cy="3635837"/>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8399552" y="1929566"/>
            <a:ext cx="2751589" cy="257860"/>
          </a:xfrm>
          <a:prstGeom prst="rect">
            <a:avLst/>
          </a:prstGeom>
          <a:noFill/>
        </p:spPr>
        <p:txBody>
          <a:bodyPr wrap="square" lIns="0" rIns="0" tIns="0" bIns="0">
            <a:spAutoFit/>
          </a:bodyPr>
          <a:lstStyle/>
          <a:p>
            <a:pPr>
              <a:spcAft>
                <a:spcPts val="455"/>
              </a:spcAft>
              <a:defRPr sz="1222" b="1">
                <a:solidFill>
                  <a:srgbClr val="E2001A"/>
                </a:solidFill>
                <a:latin typeface="Arial"/>
              </a:defRPr>
            </a:pPr>
            <a:r>
              <a:rPr>
                <a:latin typeface="Arial"/>
              </a:rPr>
              <a:t>NEXT TRAINING</a:t>
            </a:r>
          </a:p>
        </p:txBody>
      </p:sp>
      <p:sp>
        <p:nvSpPr>
          <p:cNvPr id="9" name="TextBox 8"/>
          <p:cNvSpPr txBox="1"/>
          <p:nvPr/>
        </p:nvSpPr>
        <p:spPr>
          <a:xfrm>
            <a:off x="8399552" y="2376525"/>
            <a:ext cx="2751589" cy="550103"/>
          </a:xfrm>
          <a:prstGeom prst="rect">
            <a:avLst/>
          </a:prstGeom>
          <a:noFill/>
        </p:spPr>
        <p:txBody>
          <a:bodyPr wrap="square" lIns="0" rIns="0" tIns="0" bIns="0">
            <a:spAutoFit/>
          </a:bodyPr>
          <a:lstStyle/>
          <a:p>
            <a:pPr>
              <a:spcAft>
                <a:spcPts val="455"/>
              </a:spcAft>
              <a:defRPr sz="3290" b="1">
                <a:solidFill>
                  <a:srgbClr val="26323F"/>
                </a:solidFill>
                <a:latin typeface="Arial"/>
              </a:defRPr>
            </a:pPr>
            <a:r>
              <a:rPr>
                <a:latin typeface="Arial"/>
              </a:rPr>
              <a:t>10–25 mm</a:t>
            </a:r>
          </a:p>
        </p:txBody>
      </p:sp>
      <p:sp>
        <p:nvSpPr>
          <p:cNvPr id="10" name="TextBox 9"/>
          <p:cNvSpPr txBox="1"/>
          <p:nvPr/>
        </p:nvSpPr>
        <p:spPr>
          <a:xfrm>
            <a:off x="8399552" y="3003986"/>
            <a:ext cx="2751589" cy="1022847"/>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Minimum swing target</a:t>
            </a:r>
          </a:p>
          <a:p>
            <a:pPr>
              <a:spcAft>
                <a:spcPts val="455"/>
              </a:spcAft>
              <a:defRPr sz="1879" b="0">
                <a:solidFill>
                  <a:srgbClr val="26323F"/>
                </a:solidFill>
                <a:latin typeface="Arial"/>
              </a:defRPr>
            </a:pPr>
            <a:r>
              <a:rPr>
                <a:latin typeface="Arial"/>
              </a:rPr>
              <a:t>Capped bonus</a:t>
            </a:r>
          </a:p>
          <a:p>
            <a:pPr>
              <a:spcAft>
                <a:spcPts val="455"/>
              </a:spcAft>
              <a:defRPr sz="1879" b="0">
                <a:solidFill>
                  <a:srgbClr val="26323F"/>
                </a:solidFill>
                <a:latin typeface="Arial"/>
              </a:defRPr>
            </a:pPr>
            <a:r>
              <a:rPr>
                <a:latin typeface="Arial"/>
              </a:rPr>
              <a:t>Penalty above 25 mm</a:t>
            </a:r>
          </a:p>
        </p:txBody>
      </p:sp>
      <p:sp>
        <p:nvSpPr>
          <p:cNvPr id="11" name="TextBox 10"/>
          <p:cNvSpPr txBox="1"/>
          <p:nvPr/>
        </p:nvSpPr>
        <p:spPr>
          <a:xfrm>
            <a:off x="8399552" y="4241718"/>
            <a:ext cx="2751589" cy="386791"/>
          </a:xfrm>
          <a:prstGeom prst="rect">
            <a:avLst/>
          </a:prstGeom>
          <a:noFill/>
        </p:spPr>
        <p:txBody>
          <a:bodyPr wrap="square" lIns="0" rIns="0" tIns="0" bIns="0">
            <a:spAutoFit/>
          </a:bodyPr>
          <a:lstStyle/>
          <a:p>
            <a:pPr>
              <a:spcAft>
                <a:spcPts val="455"/>
              </a:spcAft>
              <a:defRPr sz="2161" b="1">
                <a:solidFill>
                  <a:srgbClr val="26323F"/>
                </a:solidFill>
                <a:latin typeface="Arial"/>
              </a:defRPr>
            </a:pPr>
            <a:r>
              <a:rPr>
                <a:latin typeface="Arial"/>
              </a:rPr>
              <a:t>200M steps</a:t>
            </a:r>
          </a:p>
        </p:txBody>
      </p:sp>
      <p:sp>
        <p:nvSpPr>
          <p:cNvPr id="12" name="TextBox 11"/>
          <p:cNvSpPr txBox="1"/>
          <p:nvPr/>
        </p:nvSpPr>
        <p:spPr>
          <a:xfrm>
            <a:off x="8399552" y="4731654"/>
            <a:ext cx="2751589" cy="550103"/>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Submitted 26 October</a:t>
            </a:r>
          </a:p>
          <a:p>
            <a:pPr>
              <a:spcAft>
                <a:spcPts val="455"/>
              </a:spcAft>
              <a:defRPr sz="1504" b="0">
                <a:solidFill>
                  <a:srgbClr val="5A626D"/>
                </a:solidFill>
                <a:latin typeface="Arial"/>
              </a:defRPr>
            </a:pPr>
            <a:r>
              <a:rPr>
                <a:latin typeface="Arial"/>
              </a:rPr>
              <a:t>Results not reviewed yet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2286000"/>
            <a:ext cx="10566400" cy="355600"/>
          </a:xfrm>
          <a:prstGeom prst="rect">
            <a:avLst/>
          </a:prstGeom>
          <a:noFill/>
          <a:ln/>
        </p:spPr>
        <p:txBody>
          <a:bodyPr wrap="square" lIns="0" tIns="0" rIns="0" bIns="0" rtlCol="0" anchor="t"/>
          <a:lstStyle/>
          <a:p>
            <a:pPr marL="0" indent="0" algn="l">
              <a:lnSpc>
                <a:spcPct val="100000"/>
              </a:lnSpc>
              <a:buNone/>
            </a:pPr>
            <a:r>
              <a:rPr lang="en-US" sz="2000" b="1" dirty="0">
                <a:solidFill>
                  <a:srgbClr val="FF5A6A"/>
                </a:solidFill>
                <a:latin typeface="Arial" pitchFamily="34" charset="0"/>
                <a:ea typeface="Arial" pitchFamily="34" charset="-122"/>
                <a:cs typeface="Arial" pitchFamily="34" charset="-120"/>
              </a:rPr>
              <a:t>PART 3</a:t>
            </a:r>
            <a:endParaRPr lang="en-US" sz="2000" dirty="0"/>
          </a:p>
        </p:txBody>
      </p:sp>
      <p:sp>
        <p:nvSpPr>
          <p:cNvPr id="4" name="Text 1"/>
          <p:cNvSpPr txBox="1"/>
          <p:nvPr/>
        </p:nvSpPr>
        <p:spPr>
          <a:xfrm>
            <a:off x="812800" y="2667000"/>
            <a:ext cx="10566400" cy="952500"/>
          </a:xfrm>
          <a:prstGeom prst="rect">
            <a:avLst/>
          </a:prstGeom>
          <a:noFill/>
          <a:ln/>
        </p:spPr>
        <p:txBody>
          <a:bodyPr wrap="square" lIns="0" tIns="0" rIns="0" bIns="0" rtlCol="0" anchor="ctr"/>
          <a:lstStyle/>
          <a:p>
            <a:pPr marL="0" indent="0" algn="l">
              <a:lnSpc>
                <a:spcPct val="100000"/>
              </a:lnSpc>
              <a:buNone/>
            </a:pPr>
            <a:r>
              <a:rPr lang="en-US" sz="6000" b="1" dirty="0">
                <a:solidFill>
                  <a:srgbClr val="F2F4F6"/>
                </a:solidFill>
                <a:latin typeface="Arial" pitchFamily="34" charset="0"/>
                <a:ea typeface="Arial" pitchFamily="34" charset="-122"/>
                <a:cs typeface="Arial" pitchFamily="34" charset="-120"/>
              </a:rPr>
              <a:t>Objectives and timeline</a:t>
            </a:r>
            <a:endParaRPr lang="en-US" sz="6000" dirty="0"/>
          </a:p>
        </p:txBody>
      </p:sp>
      <p:sp>
        <p:nvSpPr>
          <p:cNvPr id="5" name="Text 2"/>
          <p:cNvSpPr txBox="1"/>
          <p:nvPr/>
        </p:nvSpPr>
        <p:spPr>
          <a:xfrm>
            <a:off x="812800" y="3746500"/>
            <a:ext cx="10566400" cy="444500"/>
          </a:xfrm>
          <a:prstGeom prst="rect">
            <a:avLst/>
          </a:prstGeom>
          <a:noFill/>
          <a:ln/>
        </p:spPr>
        <p:txBody>
          <a:bodyPr wrap="square" lIns="0" tIns="0" rIns="0" bIns="0" rtlCol="0" anchor="t"/>
          <a:lstStyle/>
          <a:p>
            <a:pPr marL="0" indent="0" algn="l">
              <a:lnSpc>
                <a:spcPct val="100000"/>
              </a:lnSpc>
              <a:buNone/>
            </a:pPr>
            <a:r>
              <a:rPr lang="en-US" sz="2400" dirty="0">
                <a:solidFill>
                  <a:srgbClr val="AEB6BF"/>
                </a:solidFill>
                <a:latin typeface="Arial" pitchFamily="34" charset="0"/>
                <a:ea typeface="Arial" pitchFamily="34" charset="-122"/>
                <a:cs typeface="Arial" pitchFamily="34" charset="-120"/>
              </a:rPr>
              <a:t>Demo sequence · Early treadmill tests</a:t>
            </a:r>
            <a:endParaRPr lang="en-US" sz="2400" dirty="0"/>
          </a:p>
        </p:txBody>
      </p:sp>
      <p:sp>
        <p:nvSpPr>
          <p:cNvPr id="6" name="Shape 3"/>
          <p:cNvSpPr/>
          <p:nvPr/>
        </p:nvSpPr>
        <p:spPr>
          <a:xfrm>
            <a:off x="812800" y="4953000"/>
            <a:ext cx="2489200" cy="38100"/>
          </a:xfrm>
          <a:prstGeom prst="roundRect">
            <a:avLst>
              <a:gd name="adj" fmla="val 50000"/>
            </a:avLst>
          </a:prstGeom>
          <a:solidFill>
            <a:srgbClr val="4A5664"/>
          </a:solidFill>
          <a:ln/>
        </p:spPr>
        <p:txBody>
          <a:bodyPr/>
          <a:lstStyle/>
          <a:p>
            <a:endParaRPr lang="en-CH"/>
          </a:p>
        </p:txBody>
      </p:sp>
      <p:sp>
        <p:nvSpPr>
          <p:cNvPr id="7" name="Text 4"/>
          <p:cNvSpPr txBox="1"/>
          <p:nvPr/>
        </p:nvSpPr>
        <p:spPr>
          <a:xfrm>
            <a:off x="8128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1. Context</a:t>
            </a:r>
            <a:endParaRPr lang="en-US" sz="2000" dirty="0"/>
          </a:p>
        </p:txBody>
      </p:sp>
      <p:sp>
        <p:nvSpPr>
          <p:cNvPr id="8" name="Shape 5"/>
          <p:cNvSpPr/>
          <p:nvPr/>
        </p:nvSpPr>
        <p:spPr>
          <a:xfrm>
            <a:off x="3505200" y="4953000"/>
            <a:ext cx="2489200" cy="38100"/>
          </a:xfrm>
          <a:prstGeom prst="roundRect">
            <a:avLst>
              <a:gd name="adj" fmla="val 50000"/>
            </a:avLst>
          </a:prstGeom>
          <a:solidFill>
            <a:srgbClr val="4A5664"/>
          </a:solidFill>
          <a:ln/>
        </p:spPr>
        <p:txBody>
          <a:bodyPr/>
          <a:lstStyle/>
          <a:p>
            <a:endParaRPr lang="en-CH"/>
          </a:p>
        </p:txBody>
      </p:sp>
      <p:sp>
        <p:nvSpPr>
          <p:cNvPr id="9" name="Text 6"/>
          <p:cNvSpPr txBox="1"/>
          <p:nvPr/>
        </p:nvSpPr>
        <p:spPr>
          <a:xfrm>
            <a:off x="35052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2. What was done</a:t>
            </a:r>
            <a:endParaRPr lang="en-US" sz="2000" dirty="0"/>
          </a:p>
        </p:txBody>
      </p:sp>
      <p:sp>
        <p:nvSpPr>
          <p:cNvPr id="10" name="Shape 7"/>
          <p:cNvSpPr/>
          <p:nvPr/>
        </p:nvSpPr>
        <p:spPr>
          <a:xfrm>
            <a:off x="6197600" y="4953000"/>
            <a:ext cx="2489200" cy="38100"/>
          </a:xfrm>
          <a:prstGeom prst="roundRect">
            <a:avLst>
              <a:gd name="adj" fmla="val 50000"/>
            </a:avLst>
          </a:prstGeom>
          <a:solidFill>
            <a:srgbClr val="E2001A"/>
          </a:solidFill>
          <a:ln/>
        </p:spPr>
        <p:txBody>
          <a:bodyPr/>
          <a:lstStyle/>
          <a:p>
            <a:endParaRPr lang="en-CH"/>
          </a:p>
        </p:txBody>
      </p:sp>
      <p:sp>
        <p:nvSpPr>
          <p:cNvPr id="11" name="Text 8"/>
          <p:cNvSpPr txBox="1"/>
          <p:nvPr/>
        </p:nvSpPr>
        <p:spPr>
          <a:xfrm>
            <a:off x="6197600" y="5118100"/>
            <a:ext cx="2489200" cy="698500"/>
          </a:xfrm>
          <a:prstGeom prst="rect">
            <a:avLst/>
          </a:prstGeom>
          <a:noFill/>
          <a:ln/>
        </p:spPr>
        <p:txBody>
          <a:bodyPr wrap="square" lIns="0" tIns="0" rIns="0" bIns="0" rtlCol="0" anchor="t"/>
          <a:lstStyle/>
          <a:p>
            <a:pPr marL="0" indent="0" algn="l">
              <a:lnSpc>
                <a:spcPct val="100000"/>
              </a:lnSpc>
              <a:buNone/>
            </a:pPr>
            <a:r>
              <a:rPr lang="en-US" sz="2000" b="1" dirty="0">
                <a:solidFill>
                  <a:srgbClr val="F2F4F6"/>
                </a:solidFill>
                <a:latin typeface="Arial" pitchFamily="34" charset="0"/>
                <a:ea typeface="Arial" pitchFamily="34" charset="-122"/>
                <a:cs typeface="Arial" pitchFamily="34" charset="-120"/>
              </a:rPr>
              <a:t>3. Objectives and timeline</a:t>
            </a:r>
            <a:endParaRPr lang="en-US" sz="2000" dirty="0"/>
          </a:p>
        </p:txBody>
      </p:sp>
      <p:sp>
        <p:nvSpPr>
          <p:cNvPr id="12" name="Shape 9"/>
          <p:cNvSpPr/>
          <p:nvPr/>
        </p:nvSpPr>
        <p:spPr>
          <a:xfrm>
            <a:off x="8890000" y="4953000"/>
            <a:ext cx="2489200" cy="38100"/>
          </a:xfrm>
          <a:prstGeom prst="roundRect">
            <a:avLst>
              <a:gd name="adj" fmla="val 50000"/>
            </a:avLst>
          </a:prstGeom>
          <a:solidFill>
            <a:srgbClr val="4A5664"/>
          </a:solidFill>
          <a:ln/>
        </p:spPr>
        <p:txBody>
          <a:bodyPr/>
          <a:lstStyle/>
          <a:p>
            <a:endParaRPr lang="en-CH"/>
          </a:p>
        </p:txBody>
      </p:sp>
      <p:sp>
        <p:nvSpPr>
          <p:cNvPr id="13" name="Text 10"/>
          <p:cNvSpPr txBox="1"/>
          <p:nvPr/>
        </p:nvSpPr>
        <p:spPr>
          <a:xfrm>
            <a:off x="88900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4. Challenges</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AEB6BF"/>
                </a:solidFill>
                <a:latin typeface="Arial"/>
                <a:ea typeface="Arial"/>
                <a:cs typeface="Arial"/>
              </a:defRPr>
            </a:lvl1pPr>
          </a:lstStyle>
          <a:p>
            <a:pPr algn="r"/>
            <a:r>
              <a:t>12</a:t>
            </a:r>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Objectives for Robotics Day</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13</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These are integration targets — not capabilities already validated on CAD-v2 hardware.</a:t>
            </a:r>
          </a:p>
        </p:txBody>
      </p:sp>
      <p:sp>
        <p:nvSpPr>
          <p:cNvPr id="6" name="Rounded Rectangle 5"/>
          <p:cNvSpPr/>
          <p:nvPr/>
        </p:nvSpPr>
        <p:spPr>
          <a:xfrm>
            <a:off x="812901" y="1843612"/>
            <a:ext cx="3331796" cy="32662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Rectangle 6"/>
          <p:cNvSpPr/>
          <p:nvPr/>
        </p:nvSpPr>
        <p:spPr>
          <a:xfrm>
            <a:off x="812901" y="1843612"/>
            <a:ext cx="48350" cy="326623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988722" y="1989733"/>
            <a:ext cx="2980155" cy="24067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1 / INITIALIZE</a:t>
            </a:r>
          </a:p>
        </p:txBody>
      </p:sp>
      <p:sp>
        <p:nvSpPr>
          <p:cNvPr id="9" name="TextBox 8"/>
          <p:cNvSpPr txBox="1"/>
          <p:nvPr/>
        </p:nvSpPr>
        <p:spPr>
          <a:xfrm>
            <a:off x="988722" y="2367929"/>
            <a:ext cx="2980155" cy="60167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Start upright</a:t>
            </a:r>
          </a:p>
        </p:txBody>
      </p:sp>
      <p:sp>
        <p:nvSpPr>
          <p:cNvPr id="10" name="TextBox 9"/>
          <p:cNvSpPr txBox="1"/>
          <p:nvPr/>
        </p:nvSpPr>
        <p:spPr>
          <a:xfrm>
            <a:off x="988722" y="3064153"/>
            <a:ext cx="2980155" cy="1933955"/>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Known initial pose</a:t>
            </a:r>
          </a:p>
          <a:p>
            <a:pPr>
              <a:spcAft>
                <a:spcPts val="455"/>
              </a:spcAft>
              <a:defRPr sz="1879" b="0">
                <a:solidFill>
                  <a:srgbClr val="26323F"/>
                </a:solidFill>
                <a:latin typeface="Arial"/>
              </a:defRPr>
            </a:pPr>
            <a:r>
              <a:rPr>
                <a:latin typeface="Arial"/>
              </a:rPr>
              <a:t>Automatic upright startup</a:t>
            </a:r>
          </a:p>
          <a:p>
            <a:pPr>
              <a:spcAft>
                <a:spcPts val="455"/>
              </a:spcAft>
              <a:defRPr sz="1879" b="0">
                <a:solidFill>
                  <a:srgbClr val="26323F"/>
                </a:solidFill>
                <a:latin typeface="Arial"/>
              </a:defRPr>
            </a:pPr>
            <a:r>
              <a:rPr>
                <a:latin typeface="Arial"/>
              </a:rPr>
              <a:t>Recover from small disturbances</a:t>
            </a:r>
          </a:p>
        </p:txBody>
      </p:sp>
      <p:sp>
        <p:nvSpPr>
          <p:cNvPr id="11" name="Right Arrow 10"/>
          <p:cNvSpPr/>
          <p:nvPr/>
        </p:nvSpPr>
        <p:spPr>
          <a:xfrm>
            <a:off x="4179862" y="3236061"/>
            <a:ext cx="298894" cy="206288"/>
          </a:xfrm>
          <a:prstGeom prst="rightArrow">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Rounded Rectangle 11"/>
          <p:cNvSpPr/>
          <p:nvPr/>
        </p:nvSpPr>
        <p:spPr>
          <a:xfrm>
            <a:off x="4531503" y="1843612"/>
            <a:ext cx="3331796" cy="32662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Rectangle 12"/>
          <p:cNvSpPr/>
          <p:nvPr/>
        </p:nvSpPr>
        <p:spPr>
          <a:xfrm>
            <a:off x="4531503" y="1843612"/>
            <a:ext cx="48350" cy="326623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4707323" y="1989733"/>
            <a:ext cx="2980155" cy="24067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2 / START</a:t>
            </a:r>
          </a:p>
        </p:txBody>
      </p:sp>
      <p:sp>
        <p:nvSpPr>
          <p:cNvPr id="15" name="TextBox 14"/>
          <p:cNvSpPr txBox="1"/>
          <p:nvPr/>
        </p:nvSpPr>
        <p:spPr>
          <a:xfrm>
            <a:off x="4707323" y="2367929"/>
            <a:ext cx="2980155" cy="60167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Walk on command</a:t>
            </a:r>
          </a:p>
        </p:txBody>
      </p:sp>
      <p:sp>
        <p:nvSpPr>
          <p:cNvPr id="16" name="TextBox 15"/>
          <p:cNvSpPr txBox="1"/>
          <p:nvPr/>
        </p:nvSpPr>
        <p:spPr>
          <a:xfrm>
            <a:off x="4707323" y="3064153"/>
            <a:ext cx="2980155" cy="1933955"/>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START command</a:t>
            </a:r>
          </a:p>
          <a:p>
            <a:pPr>
              <a:spcAft>
                <a:spcPts val="455"/>
              </a:spcAft>
              <a:defRPr sz="1879" b="0">
                <a:solidFill>
                  <a:srgbClr val="26323F"/>
                </a:solidFill>
                <a:latin typeface="Arial"/>
              </a:defRPr>
            </a:pPr>
            <a:r>
              <a:rPr>
                <a:latin typeface="Arial"/>
              </a:rPr>
              <a:t>Joystick-style speed changes</a:t>
            </a:r>
          </a:p>
          <a:p>
            <a:pPr>
              <a:spcAft>
                <a:spcPts val="455"/>
              </a:spcAft>
              <a:defRPr sz="1879" b="0">
                <a:solidFill>
                  <a:srgbClr val="26323F"/>
                </a:solidFill>
                <a:latin typeface="Arial"/>
              </a:defRPr>
            </a:pPr>
            <a:r>
              <a:rPr>
                <a:latin typeface="Arial"/>
              </a:rPr>
              <a:t>Stay within walking regime</a:t>
            </a:r>
          </a:p>
        </p:txBody>
      </p:sp>
      <p:sp>
        <p:nvSpPr>
          <p:cNvPr id="17" name="Right Arrow 16"/>
          <p:cNvSpPr/>
          <p:nvPr/>
        </p:nvSpPr>
        <p:spPr>
          <a:xfrm>
            <a:off x="7898463" y="3236061"/>
            <a:ext cx="298894" cy="206288"/>
          </a:xfrm>
          <a:prstGeom prst="rightArrow">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Rounded Rectangle 17"/>
          <p:cNvSpPr/>
          <p:nvPr/>
        </p:nvSpPr>
        <p:spPr>
          <a:xfrm>
            <a:off x="8241313" y="1843612"/>
            <a:ext cx="3138394" cy="32662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Rectangle 18"/>
          <p:cNvSpPr/>
          <p:nvPr/>
        </p:nvSpPr>
        <p:spPr>
          <a:xfrm>
            <a:off x="8241313" y="1843612"/>
            <a:ext cx="48350" cy="326623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8417133" y="1989733"/>
            <a:ext cx="2786753" cy="24067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3 / STOP</a:t>
            </a:r>
          </a:p>
        </p:txBody>
      </p:sp>
      <p:sp>
        <p:nvSpPr>
          <p:cNvPr id="21" name="TextBox 20"/>
          <p:cNvSpPr txBox="1"/>
          <p:nvPr/>
        </p:nvSpPr>
        <p:spPr>
          <a:xfrm>
            <a:off x="8417133" y="2367929"/>
            <a:ext cx="2786753" cy="60167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Brake and stand</a:t>
            </a:r>
          </a:p>
        </p:txBody>
      </p:sp>
      <p:sp>
        <p:nvSpPr>
          <p:cNvPr id="22" name="TextBox 21"/>
          <p:cNvSpPr txBox="1"/>
          <p:nvPr/>
        </p:nvSpPr>
        <p:spPr>
          <a:xfrm>
            <a:off x="8417133" y="3064153"/>
            <a:ext cx="2786753" cy="1933955"/>
          </a:xfrm>
          <a:prstGeom prst="rect">
            <a:avLst/>
          </a:prstGeom>
          <a:noFill/>
        </p:spPr>
        <p:txBody>
          <a:bodyPr wrap="square" lIns="0" rIns="0" tIns="0" bIns="0">
            <a:spAutoFit/>
          </a:bodyPr>
          <a:lstStyle/>
          <a:p>
            <a:pPr>
              <a:spcAft>
                <a:spcPts val="455"/>
              </a:spcAft>
              <a:defRPr sz="1879" b="0">
                <a:solidFill>
                  <a:srgbClr val="26323F"/>
                </a:solidFill>
                <a:latin typeface="Arial"/>
              </a:defRPr>
            </a:pPr>
            <a:r>
              <a:rPr>
                <a:latin typeface="Arial"/>
              </a:rPr>
              <a:t>Smooth deceleration</a:t>
            </a:r>
          </a:p>
          <a:p>
            <a:pPr>
              <a:spcAft>
                <a:spcPts val="455"/>
              </a:spcAft>
              <a:defRPr sz="1879" b="0">
                <a:solidFill>
                  <a:srgbClr val="26323F"/>
                </a:solidFill>
                <a:latin typeface="Arial"/>
              </a:defRPr>
            </a:pPr>
            <a:r>
              <a:rPr>
                <a:latin typeface="Arial"/>
              </a:rPr>
              <a:t>Stop without assistance</a:t>
            </a:r>
          </a:p>
          <a:p>
            <a:pPr>
              <a:spcAft>
                <a:spcPts val="455"/>
              </a:spcAft>
              <a:defRPr sz="1879" b="0">
                <a:solidFill>
                  <a:srgbClr val="26323F"/>
                </a:solidFill>
                <a:latin typeface="Arial"/>
              </a:defRPr>
            </a:pPr>
            <a:r>
              <a:rPr>
                <a:latin typeface="Arial"/>
              </a:rPr>
              <a:t>Remain still for ≥5 seconds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Timeline</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14</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First tests: next available slot after assembly, calibration, support and kill checks.</a:t>
            </a:r>
          </a:p>
        </p:txBody>
      </p:sp>
      <p:sp>
        <p:nvSpPr>
          <p:cNvPr id="6" name="Rounded Rectangle 5"/>
          <p:cNvSpPr/>
          <p:nvPr/>
        </p:nvSpPr>
        <p:spPr>
          <a:xfrm>
            <a:off x="812901" y="1783445"/>
            <a:ext cx="2549395" cy="489934"/>
          </a:xfrm>
          <a:prstGeom prst="roundRect">
            <a:avLst>
              <a:gd name="adj" fmla="val 8000"/>
            </a:avLst>
          </a:prstGeom>
          <a:solidFill>
            <a:srgbClr val="263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TextBox 6"/>
          <p:cNvSpPr txBox="1"/>
          <p:nvPr/>
        </p:nvSpPr>
        <p:spPr>
          <a:xfrm>
            <a:off x="927184" y="1920971"/>
            <a:ext cx="2320828" cy="232074"/>
          </a:xfrm>
          <a:prstGeom prst="rect">
            <a:avLst/>
          </a:prstGeom>
          <a:noFill/>
        </p:spPr>
        <p:txBody>
          <a:bodyPr wrap="square" lIns="0" rIns="0" tIns="0" bIns="0">
            <a:spAutoFit/>
          </a:bodyPr>
          <a:lstStyle/>
          <a:p>
            <a:pPr>
              <a:spcAft>
                <a:spcPts val="455"/>
              </a:spcAft>
              <a:defRPr sz="1222" b="1">
                <a:solidFill>
                  <a:srgbClr val="FFFFFF"/>
                </a:solidFill>
                <a:latin typeface="Arial"/>
              </a:defRPr>
            </a:pPr>
            <a:r>
              <a:rPr>
                <a:latin typeface="Arial"/>
              </a:rPr>
              <a:t>NOW / NEXT TEST SLOT</a:t>
            </a:r>
          </a:p>
        </p:txBody>
      </p:sp>
      <p:sp>
        <p:nvSpPr>
          <p:cNvPr id="8" name="Rounded Rectangle 7"/>
          <p:cNvSpPr/>
          <p:nvPr/>
        </p:nvSpPr>
        <p:spPr>
          <a:xfrm>
            <a:off x="3511744" y="1783445"/>
            <a:ext cx="2549395" cy="489934"/>
          </a:xfrm>
          <a:prstGeom prst="roundRect">
            <a:avLst>
              <a:gd name="adj" fmla="val 8000"/>
            </a:avLst>
          </a:prstGeom>
          <a:solidFill>
            <a:srgbClr val="263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3626028" y="1920971"/>
            <a:ext cx="2320828" cy="232074"/>
          </a:xfrm>
          <a:prstGeom prst="rect">
            <a:avLst/>
          </a:prstGeom>
          <a:noFill/>
        </p:spPr>
        <p:txBody>
          <a:bodyPr wrap="square" lIns="0" rIns="0" tIns="0" bIns="0">
            <a:spAutoFit/>
          </a:bodyPr>
          <a:lstStyle/>
          <a:p>
            <a:pPr>
              <a:spcAft>
                <a:spcPts val="455"/>
              </a:spcAft>
              <a:defRPr sz="1222" b="1">
                <a:solidFill>
                  <a:srgbClr val="FFFFFF"/>
                </a:solidFill>
                <a:latin typeface="Arial"/>
              </a:defRPr>
            </a:pPr>
            <a:r>
              <a:rPr>
                <a:latin typeface="Arial"/>
              </a:rPr>
              <a:t>BEFORE ROBOTICS DAY</a:t>
            </a:r>
          </a:p>
        </p:txBody>
      </p:sp>
      <p:sp>
        <p:nvSpPr>
          <p:cNvPr id="10" name="Rounded Rectangle 9"/>
          <p:cNvSpPr/>
          <p:nvPr/>
        </p:nvSpPr>
        <p:spPr>
          <a:xfrm>
            <a:off x="6210588" y="1783445"/>
            <a:ext cx="2549395" cy="489934"/>
          </a:xfrm>
          <a:prstGeom prst="roundRect">
            <a:avLst>
              <a:gd name="adj" fmla="val 8000"/>
            </a:avLst>
          </a:prstGeom>
          <a:solidFill>
            <a:srgbClr val="263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6324871" y="1920971"/>
            <a:ext cx="2320828" cy="232074"/>
          </a:xfrm>
          <a:prstGeom prst="rect">
            <a:avLst/>
          </a:prstGeom>
          <a:noFill/>
        </p:spPr>
        <p:txBody>
          <a:bodyPr wrap="square" lIns="0" rIns="0" tIns="0" bIns="0">
            <a:spAutoFit/>
          </a:bodyPr>
          <a:lstStyle/>
          <a:p>
            <a:pPr>
              <a:spcAft>
                <a:spcPts val="455"/>
              </a:spcAft>
              <a:defRPr sz="1222" b="1">
                <a:solidFill>
                  <a:srgbClr val="FFFFFF"/>
                </a:solidFill>
                <a:latin typeface="Arial"/>
              </a:defRPr>
            </a:pPr>
            <a:r>
              <a:rPr>
                <a:latin typeface="Arial"/>
              </a:rPr>
              <a:t>ROBOTICS DAY</a:t>
            </a:r>
          </a:p>
        </p:txBody>
      </p:sp>
      <p:sp>
        <p:nvSpPr>
          <p:cNvPr id="12" name="Rounded Rectangle 11"/>
          <p:cNvSpPr/>
          <p:nvPr/>
        </p:nvSpPr>
        <p:spPr>
          <a:xfrm>
            <a:off x="8909431" y="1783445"/>
            <a:ext cx="2470276" cy="489934"/>
          </a:xfrm>
          <a:prstGeom prst="roundRect">
            <a:avLst>
              <a:gd name="adj" fmla="val 8000"/>
            </a:avLst>
          </a:prstGeom>
          <a:solidFill>
            <a:srgbClr val="263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TextBox 12"/>
          <p:cNvSpPr txBox="1"/>
          <p:nvPr/>
        </p:nvSpPr>
        <p:spPr>
          <a:xfrm>
            <a:off x="9023714" y="1920971"/>
            <a:ext cx="2241710" cy="232074"/>
          </a:xfrm>
          <a:prstGeom prst="rect">
            <a:avLst/>
          </a:prstGeom>
          <a:noFill/>
        </p:spPr>
        <p:txBody>
          <a:bodyPr wrap="square" lIns="0" rIns="0" tIns="0" bIns="0">
            <a:spAutoFit/>
          </a:bodyPr>
          <a:lstStyle/>
          <a:p>
            <a:pPr>
              <a:spcAft>
                <a:spcPts val="455"/>
              </a:spcAft>
              <a:defRPr sz="1222" b="1">
                <a:solidFill>
                  <a:srgbClr val="FFFFFF"/>
                </a:solidFill>
                <a:latin typeface="Arial"/>
              </a:defRPr>
            </a:pPr>
            <a:r>
              <a:rPr>
                <a:latin typeface="Arial"/>
              </a:rPr>
              <a:t>AFTER THE DEMO</a:t>
            </a:r>
          </a:p>
        </p:txBody>
      </p:sp>
      <p:sp>
        <p:nvSpPr>
          <p:cNvPr id="14" name="TextBox 13"/>
          <p:cNvSpPr txBox="1"/>
          <p:nvPr/>
        </p:nvSpPr>
        <p:spPr>
          <a:xfrm>
            <a:off x="812901" y="2496860"/>
            <a:ext cx="10549224" cy="25786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SIMULATION</a:t>
            </a:r>
          </a:p>
        </p:txBody>
      </p:sp>
      <p:sp>
        <p:nvSpPr>
          <p:cNvPr id="15" name="Rounded Rectangle 14"/>
          <p:cNvSpPr/>
          <p:nvPr/>
        </p:nvSpPr>
        <p:spPr>
          <a:xfrm>
            <a:off x="812901" y="2849269"/>
            <a:ext cx="2549395"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TextBox 15"/>
          <p:cNvSpPr txBox="1"/>
          <p:nvPr/>
        </p:nvSpPr>
        <p:spPr>
          <a:xfrm>
            <a:off x="918393" y="2943818"/>
            <a:ext cx="2338411"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Compare clearance runs</a:t>
            </a:r>
          </a:p>
          <a:p>
            <a:pPr>
              <a:spcAft>
                <a:spcPts val="455"/>
              </a:spcAft>
              <a:defRPr sz="1597" b="0">
                <a:solidFill>
                  <a:srgbClr val="26323F"/>
                </a:solidFill>
                <a:latin typeface="Arial"/>
              </a:defRPr>
            </a:pPr>
            <a:r>
              <a:rPr>
                <a:latin typeface="Arial"/>
              </a:rPr>
              <a:t>Freeze baseline</a:t>
            </a:r>
          </a:p>
        </p:txBody>
      </p:sp>
      <p:sp>
        <p:nvSpPr>
          <p:cNvPr id="17" name="Rounded Rectangle 16"/>
          <p:cNvSpPr/>
          <p:nvPr/>
        </p:nvSpPr>
        <p:spPr>
          <a:xfrm>
            <a:off x="3511744" y="2849269"/>
            <a:ext cx="2549395"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3617237" y="2943818"/>
            <a:ext cx="2338411"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Fit measured mismatches</a:t>
            </a:r>
          </a:p>
          <a:p>
            <a:pPr>
              <a:spcAft>
                <a:spcPts val="455"/>
              </a:spcAft>
              <a:defRPr sz="1597" b="0">
                <a:solidFill>
                  <a:srgbClr val="26323F"/>
                </a:solidFill>
                <a:latin typeface="Arial"/>
              </a:defRPr>
            </a:pPr>
            <a:r>
              <a:rPr>
                <a:latin typeface="Arial"/>
              </a:rPr>
              <a:t>Train demo transitions</a:t>
            </a:r>
          </a:p>
        </p:txBody>
      </p:sp>
      <p:sp>
        <p:nvSpPr>
          <p:cNvPr id="19" name="Rounded Rectangle 18"/>
          <p:cNvSpPr/>
          <p:nvPr/>
        </p:nvSpPr>
        <p:spPr>
          <a:xfrm>
            <a:off x="6210588" y="2849269"/>
            <a:ext cx="2549395"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6316080" y="2943818"/>
            <a:ext cx="2338411"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Freeze tested checkpoint</a:t>
            </a:r>
          </a:p>
          <a:p>
            <a:pPr>
              <a:spcAft>
                <a:spcPts val="455"/>
              </a:spcAft>
              <a:defRPr sz="1597" b="0">
                <a:solidFill>
                  <a:srgbClr val="26323F"/>
                </a:solidFill>
                <a:latin typeface="Arial"/>
              </a:defRPr>
            </a:pPr>
            <a:r>
              <a:rPr>
                <a:latin typeface="Arial"/>
              </a:rPr>
              <a:t>No last-minute retraining</a:t>
            </a:r>
          </a:p>
        </p:txBody>
      </p:sp>
      <p:sp>
        <p:nvSpPr>
          <p:cNvPr id="21" name="Rounded Rectangle 20"/>
          <p:cNvSpPr/>
          <p:nvPr/>
        </p:nvSpPr>
        <p:spPr>
          <a:xfrm>
            <a:off x="8909431" y="2849269"/>
            <a:ext cx="2470276"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9014922" y="2943818"/>
            <a:ext cx="2259292"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Quantify robustness</a:t>
            </a:r>
          </a:p>
          <a:p>
            <a:pPr>
              <a:spcAft>
                <a:spcPts val="455"/>
              </a:spcAft>
              <a:defRPr sz="1597" b="0">
                <a:solidFill>
                  <a:srgbClr val="26323F"/>
                </a:solidFill>
                <a:latin typeface="Arial"/>
              </a:defRPr>
            </a:pPr>
            <a:r>
              <a:rPr>
                <a:latin typeface="Arial"/>
              </a:rPr>
              <a:t>Write final report</a:t>
            </a:r>
          </a:p>
        </p:txBody>
      </p:sp>
      <p:sp>
        <p:nvSpPr>
          <p:cNvPr id="23" name="TextBox 22"/>
          <p:cNvSpPr txBox="1"/>
          <p:nvPr/>
        </p:nvSpPr>
        <p:spPr>
          <a:xfrm>
            <a:off x="812901" y="3717401"/>
            <a:ext cx="10549224" cy="257860"/>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HARDWARE</a:t>
            </a:r>
          </a:p>
        </p:txBody>
      </p:sp>
      <p:sp>
        <p:nvSpPr>
          <p:cNvPr id="24" name="Rounded Rectangle 23"/>
          <p:cNvSpPr/>
          <p:nvPr/>
        </p:nvSpPr>
        <p:spPr>
          <a:xfrm>
            <a:off x="812901" y="4069811"/>
            <a:ext cx="2549395"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TextBox 24"/>
          <p:cNvSpPr txBox="1"/>
          <p:nvPr/>
        </p:nvSpPr>
        <p:spPr>
          <a:xfrm>
            <a:off x="918393" y="4164360"/>
            <a:ext cx="2338411"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Treadmill tests ASAP</a:t>
            </a:r>
          </a:p>
          <a:p>
            <a:pPr>
              <a:spcAft>
                <a:spcPts val="455"/>
              </a:spcAft>
              <a:defRPr sz="1597" b="0">
                <a:solidFill>
                  <a:srgbClr val="26323F"/>
                </a:solidFill>
                <a:latin typeface="Arial"/>
              </a:defRPr>
            </a:pPr>
            <a:r>
              <a:rPr>
                <a:latin typeface="Arial"/>
              </a:rPr>
              <a:t>Calibrate; short trials</a:t>
            </a:r>
          </a:p>
        </p:txBody>
      </p:sp>
      <p:sp>
        <p:nvSpPr>
          <p:cNvPr id="26" name="Rounded Rectangle 25"/>
          <p:cNvSpPr/>
          <p:nvPr/>
        </p:nvSpPr>
        <p:spPr>
          <a:xfrm>
            <a:off x="3511744" y="4069811"/>
            <a:ext cx="2549395"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7" name="TextBox 26"/>
          <p:cNvSpPr txBox="1"/>
          <p:nvPr/>
        </p:nvSpPr>
        <p:spPr>
          <a:xfrm>
            <a:off x="3617237" y="4164360"/>
            <a:ext cx="2338411"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Repeat low-speed trials</a:t>
            </a:r>
          </a:p>
          <a:p>
            <a:pPr>
              <a:spcAft>
                <a:spcPts val="455"/>
              </a:spcAft>
              <a:defRPr sz="1597" b="0">
                <a:solidFill>
                  <a:srgbClr val="26323F"/>
                </a:solidFill>
                <a:latin typeface="Arial"/>
              </a:defRPr>
            </a:pPr>
            <a:r>
              <a:rPr>
                <a:latin typeface="Arial"/>
              </a:rPr>
              <a:t>Log and fix failures</a:t>
            </a:r>
          </a:p>
        </p:txBody>
      </p:sp>
      <p:sp>
        <p:nvSpPr>
          <p:cNvPr id="28" name="Rounded Rectangle 27"/>
          <p:cNvSpPr/>
          <p:nvPr/>
        </p:nvSpPr>
        <p:spPr>
          <a:xfrm>
            <a:off x="6210588" y="4069811"/>
            <a:ext cx="2549395"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TextBox 28"/>
          <p:cNvSpPr txBox="1"/>
          <p:nvPr/>
        </p:nvSpPr>
        <p:spPr>
          <a:xfrm>
            <a:off x="6316080" y="4164360"/>
            <a:ext cx="2338411"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Rehearse demo</a:t>
            </a:r>
          </a:p>
          <a:p>
            <a:pPr>
              <a:spcAft>
                <a:spcPts val="455"/>
              </a:spcAft>
              <a:defRPr sz="1597" b="0">
                <a:solidFill>
                  <a:srgbClr val="26323F"/>
                </a:solidFill>
                <a:latin typeface="Arial"/>
              </a:defRPr>
            </a:pPr>
            <a:r>
              <a:rPr>
                <a:latin typeface="Arial"/>
              </a:rPr>
              <a:t>Keep tested fallback</a:t>
            </a:r>
          </a:p>
        </p:txBody>
      </p:sp>
      <p:sp>
        <p:nvSpPr>
          <p:cNvPr id="30" name="Rounded Rectangle 29"/>
          <p:cNvSpPr/>
          <p:nvPr/>
        </p:nvSpPr>
        <p:spPr>
          <a:xfrm>
            <a:off x="8909431" y="4069811"/>
            <a:ext cx="2470276" cy="73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TextBox 30"/>
          <p:cNvSpPr txBox="1"/>
          <p:nvPr/>
        </p:nvSpPr>
        <p:spPr>
          <a:xfrm>
            <a:off x="9014922" y="4164360"/>
            <a:ext cx="2259292" cy="584484"/>
          </a:xfrm>
          <a:prstGeom prst="rect">
            <a:avLst/>
          </a:prstGeom>
          <a:noFill/>
        </p:spPr>
        <p:txBody>
          <a:bodyPr wrap="square" lIns="0" rIns="0" tIns="0" bIns="0">
            <a:spAutoFit/>
          </a:bodyPr>
          <a:lstStyle/>
          <a:p>
            <a:pPr>
              <a:spcAft>
                <a:spcPts val="455"/>
              </a:spcAft>
              <a:defRPr sz="1597" b="0">
                <a:solidFill>
                  <a:srgbClr val="26323F"/>
                </a:solidFill>
                <a:latin typeface="Arial"/>
              </a:defRPr>
            </a:pPr>
            <a:r>
              <a:rPr>
                <a:latin typeface="Arial"/>
              </a:rPr>
              <a:t>Wider speed envelope</a:t>
            </a:r>
          </a:p>
          <a:p>
            <a:pPr>
              <a:spcAft>
                <a:spcPts val="455"/>
              </a:spcAft>
              <a:defRPr sz="1597" b="0">
                <a:solidFill>
                  <a:srgbClr val="26323F"/>
                </a:solidFill>
                <a:latin typeface="Arial"/>
              </a:defRPr>
            </a:pPr>
            <a:r>
              <a:rPr>
                <a:latin typeface="Arial"/>
              </a:rPr>
              <a:t>Repeatability tests</a:t>
            </a:r>
          </a:p>
        </p:txBody>
      </p:sp>
      <p:sp>
        <p:nvSpPr>
          <p:cNvPr id="32" name="TextBox 31"/>
          <p:cNvSpPr txBox="1"/>
          <p:nvPr/>
        </p:nvSpPr>
        <p:spPr>
          <a:xfrm>
            <a:off x="962348" y="5204399"/>
            <a:ext cx="10109673" cy="309432"/>
          </a:xfrm>
          <a:prstGeom prst="rect">
            <a:avLst/>
          </a:prstGeom>
          <a:noFill/>
        </p:spPr>
        <p:txBody>
          <a:bodyPr wrap="square" lIns="0" rIns="0" tIns="0" bIns="0">
            <a:spAutoFit/>
          </a:bodyPr>
          <a:lstStyle/>
          <a:p>
            <a:pPr>
              <a:spcAft>
                <a:spcPts val="455"/>
              </a:spcAft>
              <a:defRPr sz="1973" b="1">
                <a:solidFill>
                  <a:srgbClr val="26323F"/>
                </a:solidFill>
                <a:latin typeface="Arial"/>
              </a:defRPr>
            </a:pPr>
            <a:r>
              <a:rPr>
                <a:latin typeface="Arial"/>
              </a:rPr>
              <a:t>Repeat throughout:  measure → reproduce in simulation → update → retest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2286000"/>
            <a:ext cx="10566400" cy="355600"/>
          </a:xfrm>
          <a:prstGeom prst="rect">
            <a:avLst/>
          </a:prstGeom>
          <a:noFill/>
          <a:ln/>
        </p:spPr>
        <p:txBody>
          <a:bodyPr wrap="square" lIns="0" tIns="0" rIns="0" bIns="0" rtlCol="0" anchor="t"/>
          <a:lstStyle/>
          <a:p>
            <a:pPr marL="0" indent="0" algn="l">
              <a:lnSpc>
                <a:spcPct val="100000"/>
              </a:lnSpc>
              <a:buNone/>
            </a:pPr>
            <a:r>
              <a:rPr lang="en-US" sz="2000" b="1" dirty="0">
                <a:solidFill>
                  <a:srgbClr val="FF5A6A"/>
                </a:solidFill>
                <a:latin typeface="Arial" pitchFamily="34" charset="0"/>
                <a:ea typeface="Arial" pitchFamily="34" charset="-122"/>
                <a:cs typeface="Arial" pitchFamily="34" charset="-120"/>
              </a:rPr>
              <a:t>PART 4</a:t>
            </a:r>
            <a:endParaRPr lang="en-US" sz="2000" dirty="0"/>
          </a:p>
        </p:txBody>
      </p:sp>
      <p:sp>
        <p:nvSpPr>
          <p:cNvPr id="4" name="Text 1"/>
          <p:cNvSpPr txBox="1"/>
          <p:nvPr/>
        </p:nvSpPr>
        <p:spPr>
          <a:xfrm>
            <a:off x="812800" y="2667000"/>
            <a:ext cx="10566400" cy="952500"/>
          </a:xfrm>
          <a:prstGeom prst="rect">
            <a:avLst/>
          </a:prstGeom>
          <a:noFill/>
          <a:ln/>
        </p:spPr>
        <p:txBody>
          <a:bodyPr wrap="square" lIns="0" tIns="0" rIns="0" bIns="0" rtlCol="0" anchor="ctr"/>
          <a:lstStyle/>
          <a:p>
            <a:pPr marL="0" indent="0" algn="l">
              <a:lnSpc>
                <a:spcPct val="100000"/>
              </a:lnSpc>
              <a:buNone/>
            </a:pPr>
            <a:r>
              <a:rPr lang="en-US" sz="6000" b="1" dirty="0">
                <a:solidFill>
                  <a:srgbClr val="F2F4F6"/>
                </a:solidFill>
                <a:latin typeface="Arial" pitchFamily="34" charset="0"/>
                <a:ea typeface="Arial" pitchFamily="34" charset="-122"/>
                <a:cs typeface="Arial" pitchFamily="34" charset="-120"/>
              </a:rPr>
              <a:t>Challenges</a:t>
            </a:r>
            <a:endParaRPr lang="en-US" sz="6000" dirty="0"/>
          </a:p>
        </p:txBody>
      </p:sp>
      <p:sp>
        <p:nvSpPr>
          <p:cNvPr id="5" name="Text 2"/>
          <p:cNvSpPr txBox="1"/>
          <p:nvPr/>
        </p:nvSpPr>
        <p:spPr>
          <a:xfrm>
            <a:off x="812800" y="3746500"/>
            <a:ext cx="10566400" cy="444500"/>
          </a:xfrm>
          <a:prstGeom prst="rect">
            <a:avLst/>
          </a:prstGeom>
          <a:noFill/>
          <a:ln/>
        </p:spPr>
        <p:txBody>
          <a:bodyPr wrap="square" lIns="0" tIns="0" rIns="0" bIns="0" rtlCol="0" anchor="t"/>
          <a:lstStyle/>
          <a:p>
            <a:pPr marL="0" indent="0" algn="l">
              <a:lnSpc>
                <a:spcPct val="100000"/>
              </a:lnSpc>
              <a:buNone/>
            </a:pPr>
            <a:r>
              <a:rPr lang="en-US" sz="2400" dirty="0">
                <a:solidFill>
                  <a:srgbClr val="AEB6BF"/>
                </a:solidFill>
                <a:latin typeface="Arial" pitchFamily="34" charset="0"/>
                <a:ea typeface="Arial" pitchFamily="34" charset="-122"/>
                <a:cs typeface="Arial" pitchFamily="34" charset="-120"/>
              </a:rPr>
              <a:t>Sim-to-real gap · Unknown unknowns</a:t>
            </a:r>
            <a:endParaRPr lang="en-US" sz="2400" dirty="0"/>
          </a:p>
        </p:txBody>
      </p:sp>
      <p:sp>
        <p:nvSpPr>
          <p:cNvPr id="6" name="Shape 3"/>
          <p:cNvSpPr/>
          <p:nvPr/>
        </p:nvSpPr>
        <p:spPr>
          <a:xfrm>
            <a:off x="812800" y="4953000"/>
            <a:ext cx="2489200" cy="38100"/>
          </a:xfrm>
          <a:prstGeom prst="roundRect">
            <a:avLst>
              <a:gd name="adj" fmla="val 50000"/>
            </a:avLst>
          </a:prstGeom>
          <a:solidFill>
            <a:srgbClr val="4A5664"/>
          </a:solidFill>
          <a:ln/>
        </p:spPr>
        <p:txBody>
          <a:bodyPr/>
          <a:lstStyle/>
          <a:p>
            <a:endParaRPr lang="en-CH"/>
          </a:p>
        </p:txBody>
      </p:sp>
      <p:sp>
        <p:nvSpPr>
          <p:cNvPr id="7" name="Text 4"/>
          <p:cNvSpPr txBox="1"/>
          <p:nvPr/>
        </p:nvSpPr>
        <p:spPr>
          <a:xfrm>
            <a:off x="8128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1. Context</a:t>
            </a:r>
            <a:endParaRPr lang="en-US" sz="2000" dirty="0"/>
          </a:p>
        </p:txBody>
      </p:sp>
      <p:sp>
        <p:nvSpPr>
          <p:cNvPr id="8" name="Shape 5"/>
          <p:cNvSpPr/>
          <p:nvPr/>
        </p:nvSpPr>
        <p:spPr>
          <a:xfrm>
            <a:off x="3505200" y="4953000"/>
            <a:ext cx="2489200" cy="38100"/>
          </a:xfrm>
          <a:prstGeom prst="roundRect">
            <a:avLst>
              <a:gd name="adj" fmla="val 50000"/>
            </a:avLst>
          </a:prstGeom>
          <a:solidFill>
            <a:srgbClr val="4A5664"/>
          </a:solidFill>
          <a:ln/>
        </p:spPr>
        <p:txBody>
          <a:bodyPr/>
          <a:lstStyle/>
          <a:p>
            <a:endParaRPr lang="en-CH"/>
          </a:p>
        </p:txBody>
      </p:sp>
      <p:sp>
        <p:nvSpPr>
          <p:cNvPr id="9" name="Text 6"/>
          <p:cNvSpPr txBox="1"/>
          <p:nvPr/>
        </p:nvSpPr>
        <p:spPr>
          <a:xfrm>
            <a:off x="35052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2. What was done</a:t>
            </a:r>
            <a:endParaRPr lang="en-US" sz="2000" dirty="0"/>
          </a:p>
        </p:txBody>
      </p:sp>
      <p:sp>
        <p:nvSpPr>
          <p:cNvPr id="10" name="Shape 7"/>
          <p:cNvSpPr/>
          <p:nvPr/>
        </p:nvSpPr>
        <p:spPr>
          <a:xfrm>
            <a:off x="6197600" y="4953000"/>
            <a:ext cx="2489200" cy="38100"/>
          </a:xfrm>
          <a:prstGeom prst="roundRect">
            <a:avLst>
              <a:gd name="adj" fmla="val 50000"/>
            </a:avLst>
          </a:prstGeom>
          <a:solidFill>
            <a:srgbClr val="4A5664"/>
          </a:solidFill>
          <a:ln/>
        </p:spPr>
        <p:txBody>
          <a:bodyPr/>
          <a:lstStyle/>
          <a:p>
            <a:endParaRPr lang="en-CH"/>
          </a:p>
        </p:txBody>
      </p:sp>
      <p:sp>
        <p:nvSpPr>
          <p:cNvPr id="11" name="Text 8"/>
          <p:cNvSpPr txBox="1"/>
          <p:nvPr/>
        </p:nvSpPr>
        <p:spPr>
          <a:xfrm>
            <a:off x="6197600" y="5118100"/>
            <a:ext cx="2489200" cy="698500"/>
          </a:xfrm>
          <a:prstGeom prst="rect">
            <a:avLst/>
          </a:prstGeom>
          <a:noFill/>
          <a:ln/>
        </p:spPr>
        <p:txBody>
          <a:bodyPr wrap="square" lIns="0" tIns="0" rIns="0" bIns="0" rtlCol="0" anchor="t"/>
          <a:lstStyle/>
          <a:p>
            <a:pPr marL="0" indent="0" algn="l">
              <a:lnSpc>
                <a:spcPct val="100000"/>
              </a:lnSpc>
              <a:buNone/>
            </a:pPr>
            <a:r>
              <a:rPr lang="en-US" sz="2000" dirty="0">
                <a:solidFill>
                  <a:srgbClr val="8A949F"/>
                </a:solidFill>
                <a:latin typeface="Arial" pitchFamily="34" charset="0"/>
                <a:ea typeface="Arial" pitchFamily="34" charset="-122"/>
                <a:cs typeface="Arial" pitchFamily="34" charset="-120"/>
              </a:rPr>
              <a:t>3. Objectives and timeline</a:t>
            </a:r>
            <a:endParaRPr lang="en-US" sz="2000" dirty="0"/>
          </a:p>
        </p:txBody>
      </p:sp>
      <p:sp>
        <p:nvSpPr>
          <p:cNvPr id="12" name="Shape 9"/>
          <p:cNvSpPr/>
          <p:nvPr/>
        </p:nvSpPr>
        <p:spPr>
          <a:xfrm>
            <a:off x="8890000" y="4953000"/>
            <a:ext cx="2489200" cy="38100"/>
          </a:xfrm>
          <a:prstGeom prst="roundRect">
            <a:avLst>
              <a:gd name="adj" fmla="val 50000"/>
            </a:avLst>
          </a:prstGeom>
          <a:solidFill>
            <a:srgbClr val="E2001A"/>
          </a:solidFill>
          <a:ln/>
        </p:spPr>
        <p:txBody>
          <a:bodyPr/>
          <a:lstStyle/>
          <a:p>
            <a:endParaRPr lang="en-CH"/>
          </a:p>
        </p:txBody>
      </p:sp>
      <p:sp>
        <p:nvSpPr>
          <p:cNvPr id="13" name="Text 10"/>
          <p:cNvSpPr txBox="1"/>
          <p:nvPr/>
        </p:nvSpPr>
        <p:spPr>
          <a:xfrm>
            <a:off x="8890000" y="5118100"/>
            <a:ext cx="2489200" cy="698500"/>
          </a:xfrm>
          <a:prstGeom prst="rect">
            <a:avLst/>
          </a:prstGeom>
          <a:noFill/>
          <a:ln/>
        </p:spPr>
        <p:txBody>
          <a:bodyPr wrap="square" lIns="0" tIns="0" rIns="0" bIns="0" rtlCol="0" anchor="t"/>
          <a:lstStyle/>
          <a:p>
            <a:pPr marL="0" indent="0" algn="l">
              <a:lnSpc>
                <a:spcPct val="100000"/>
              </a:lnSpc>
              <a:buNone/>
            </a:pPr>
            <a:r>
              <a:rPr lang="en-US" sz="2000" b="1" dirty="0">
                <a:solidFill>
                  <a:srgbClr val="F2F4F6"/>
                </a:solidFill>
                <a:latin typeface="Arial" pitchFamily="34" charset="0"/>
                <a:ea typeface="Arial" pitchFamily="34" charset="-122"/>
                <a:cs typeface="Arial" pitchFamily="34" charset="-120"/>
              </a:rPr>
              <a:t>4. Challenges</a:t>
            </a:r>
            <a:endParaRPr lang="en-US" sz="2000" dirty="0"/>
          </a:p>
        </p:txBody>
      </p:sp>
      <p:sp>
        <p:nvSpPr>
          <p:cNvPr id="25" name="Slide Number Placeholder 0"/>
          <p:cNvSpPr>
            <a:spLocks noGrp="1"/>
          </p:cNvSpPr>
          <p:nvPr>
            <p:ph type="sldNum" sz="quarter" idx="4294967295"/>
          </p:nvPr>
        </p:nvSpPr>
        <p:spPr>
          <a:xfrm>
            <a:off x="9474200" y="6032500"/>
            <a:ext cx="1905000" cy="381000"/>
          </a:xfrm>
          <a:prstGeom prst="rect">
            <a:avLst/>
          </a:prstGeom>
          <a:extLst>
            <a:ext uri="{C572A759-6A51-4108-AA02-DFA0A04FC94B}">
              <ma14:wrappingTextBoxFlag xmlns:ma14="http://schemas.microsoft.com/office/mac/drawingml/2011/main" xmlns="" val="0"/>
            </a:ext>
          </a:extLst>
        </p:spPr>
        <p:txBody>
          <a:bodyPr lIns="0" tIns="0" rIns="0" bIns="0"/>
          <a:lstStyle>
            <a:lvl1pPr>
              <a:defRPr sz="2000">
                <a:solidFill>
                  <a:srgbClr val="AEB6BF"/>
                </a:solidFill>
                <a:latin typeface="Arial"/>
                <a:ea typeface="Arial"/>
                <a:cs typeface="Arial"/>
              </a:defRPr>
            </a:lvl1pPr>
          </a:lstStyle>
          <a:p>
            <a:pPr algn="r"/>
            <a:r>
              <a:t>15</a:t>
            </a:r>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Where we are stuck</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16</a:t>
            </a:r>
          </a:p>
        </p:txBody>
      </p:sp>
      <p:sp>
        <p:nvSpPr>
          <p:cNvPr id="5" name="TextBox 4"/>
          <p:cNvSpPr txBox="1"/>
          <p:nvPr/>
        </p:nvSpPr>
        <p:spPr>
          <a:xfrm>
            <a:off x="812901" y="5687568"/>
            <a:ext cx="10566806" cy="283464"/>
          </a:xfrm>
          <a:prstGeom prst="rect">
            <a:avLst/>
          </a:prstGeom>
          <a:noFill/>
        </p:spPr>
        <p:txBody>
          <a:bodyPr wrap="square" lIns="0" rIns="0" tIns="0" bIns="0">
            <a:spAutoFit/>
          </a:bodyPr>
          <a:lstStyle/>
          <a:p>
            <a:pPr>
              <a:spcAft>
                <a:spcPts val="700"/>
              </a:spcAft>
              <a:defRPr sz="1600" b="1">
                <a:solidFill>
                  <a:srgbClr val="5A626D"/>
                </a:solidFill>
                <a:latin typeface="Arial"/>
              </a:defRPr>
            </a:pPr>
            <a:r>
              <a:t>We do not know what we do not know until we test the real robot.</a:t>
            </a:r>
          </a:p>
        </p:txBody>
      </p:sp>
      <p:sp>
        <p:nvSpPr>
          <p:cNvPr id="6" name="Rounded Rectangle 5"/>
          <p:cNvSpPr/>
          <p:nvPr/>
        </p:nvSpPr>
        <p:spPr>
          <a:xfrm>
            <a:off x="812901" y="1792041"/>
            <a:ext cx="5116373" cy="163311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TextBox 6"/>
          <p:cNvSpPr txBox="1"/>
          <p:nvPr/>
        </p:nvSpPr>
        <p:spPr>
          <a:xfrm>
            <a:off x="988722" y="1938162"/>
            <a:ext cx="4729568" cy="232074"/>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KNOWN SUSPECTS</a:t>
            </a:r>
          </a:p>
        </p:txBody>
      </p:sp>
      <p:sp>
        <p:nvSpPr>
          <p:cNvPr id="8" name="TextBox 7"/>
          <p:cNvSpPr txBox="1"/>
          <p:nvPr/>
        </p:nvSpPr>
        <p:spPr>
          <a:xfrm>
            <a:off x="988722" y="2307762"/>
            <a:ext cx="4729568" cy="386791"/>
          </a:xfrm>
          <a:prstGeom prst="rect">
            <a:avLst/>
          </a:prstGeom>
          <a:noFill/>
        </p:spPr>
        <p:txBody>
          <a:bodyPr wrap="square" lIns="0" rIns="0" tIns="0" bIns="0">
            <a:spAutoFit/>
          </a:bodyPr>
          <a:lstStyle/>
          <a:p>
            <a:pPr>
              <a:spcAft>
                <a:spcPts val="455"/>
              </a:spcAft>
              <a:defRPr sz="2256" b="1">
                <a:solidFill>
                  <a:srgbClr val="26323F"/>
                </a:solidFill>
                <a:latin typeface="Arial"/>
              </a:defRPr>
            </a:pPr>
            <a:r>
              <a:rPr>
                <a:latin typeface="Arial"/>
              </a:rPr>
              <a:t>The physical model</a:t>
            </a:r>
          </a:p>
        </p:txBody>
      </p:sp>
      <p:sp>
        <p:nvSpPr>
          <p:cNvPr id="9" name="TextBox 8"/>
          <p:cNvSpPr txBox="1"/>
          <p:nvPr/>
        </p:nvSpPr>
        <p:spPr>
          <a:xfrm>
            <a:off x="988722" y="2857865"/>
            <a:ext cx="4729568" cy="558698"/>
          </a:xfrm>
          <a:prstGeom prst="rect">
            <a:avLst/>
          </a:prstGeom>
          <a:noFill/>
        </p:spPr>
        <p:txBody>
          <a:bodyPr wrap="square" lIns="0" rIns="0" tIns="0" bIns="0">
            <a:spAutoFit/>
          </a:bodyPr>
          <a:lstStyle/>
          <a:p>
            <a:pPr>
              <a:spcAft>
                <a:spcPts val="455"/>
              </a:spcAft>
              <a:defRPr sz="1786" b="0">
                <a:solidFill>
                  <a:srgbClr val="5A626D"/>
                </a:solidFill>
                <a:latin typeface="Arial"/>
              </a:defRPr>
            </a:pPr>
            <a:r>
              <a:rPr>
                <a:latin typeface="Arial"/>
              </a:rPr>
              <a:t>Friction, compliance, inertia and actuator response</a:t>
            </a:r>
          </a:p>
        </p:txBody>
      </p:sp>
      <p:sp>
        <p:nvSpPr>
          <p:cNvPr id="10" name="Rounded Rectangle 9"/>
          <p:cNvSpPr/>
          <p:nvPr/>
        </p:nvSpPr>
        <p:spPr>
          <a:xfrm>
            <a:off x="6219379" y="1792041"/>
            <a:ext cx="5116373" cy="163311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6395199" y="1938162"/>
            <a:ext cx="4729568" cy="232074"/>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CONTROL AND OBSERVABILITY</a:t>
            </a:r>
          </a:p>
        </p:txBody>
      </p:sp>
      <p:sp>
        <p:nvSpPr>
          <p:cNvPr id="12" name="TextBox 11"/>
          <p:cNvSpPr txBox="1"/>
          <p:nvPr/>
        </p:nvSpPr>
        <p:spPr>
          <a:xfrm>
            <a:off x="6395199" y="2307762"/>
            <a:ext cx="4729568" cy="386791"/>
          </a:xfrm>
          <a:prstGeom prst="rect">
            <a:avLst/>
          </a:prstGeom>
          <a:noFill/>
        </p:spPr>
        <p:txBody>
          <a:bodyPr wrap="square" lIns="0" rIns="0" tIns="0" bIns="0">
            <a:spAutoFit/>
          </a:bodyPr>
          <a:lstStyle/>
          <a:p>
            <a:pPr>
              <a:spcAft>
                <a:spcPts val="455"/>
              </a:spcAft>
              <a:defRPr sz="2256" b="1">
                <a:solidFill>
                  <a:srgbClr val="26323F"/>
                </a:solidFill>
                <a:latin typeface="Arial"/>
              </a:defRPr>
            </a:pPr>
            <a:r>
              <a:rPr>
                <a:latin typeface="Arial"/>
              </a:rPr>
              <a:t>Timing and sensing</a:t>
            </a:r>
          </a:p>
        </p:txBody>
      </p:sp>
      <p:sp>
        <p:nvSpPr>
          <p:cNvPr id="13" name="TextBox 12"/>
          <p:cNvSpPr txBox="1"/>
          <p:nvPr/>
        </p:nvSpPr>
        <p:spPr>
          <a:xfrm>
            <a:off x="6395199" y="2857865"/>
            <a:ext cx="4729568" cy="558698"/>
          </a:xfrm>
          <a:prstGeom prst="rect">
            <a:avLst/>
          </a:prstGeom>
          <a:noFill/>
        </p:spPr>
        <p:txBody>
          <a:bodyPr wrap="square" lIns="0" rIns="0" tIns="0" bIns="0">
            <a:spAutoFit/>
          </a:bodyPr>
          <a:lstStyle/>
          <a:p>
            <a:pPr>
              <a:spcAft>
                <a:spcPts val="455"/>
              </a:spcAft>
              <a:defRPr sz="1786" b="0">
                <a:solidFill>
                  <a:srgbClr val="5A626D"/>
                </a:solidFill>
                <a:latin typeface="Arial"/>
              </a:defRPr>
            </a:pPr>
            <a:r>
              <a:rPr>
                <a:latin typeface="Arial"/>
              </a:rPr>
              <a:t>Delay, velocity estimation and phase timing</a:t>
            </a:r>
          </a:p>
        </p:txBody>
      </p:sp>
      <p:sp>
        <p:nvSpPr>
          <p:cNvPr id="14" name="Rounded Rectangle 13"/>
          <p:cNvSpPr/>
          <p:nvPr/>
        </p:nvSpPr>
        <p:spPr>
          <a:xfrm>
            <a:off x="812901" y="3700211"/>
            <a:ext cx="5116373" cy="152997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988722" y="3846332"/>
            <a:ext cx="4729568" cy="232074"/>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REWARD AND VALIDATION</a:t>
            </a:r>
          </a:p>
        </p:txBody>
      </p:sp>
      <p:sp>
        <p:nvSpPr>
          <p:cNvPr id="16" name="TextBox 15"/>
          <p:cNvSpPr txBox="1"/>
          <p:nvPr/>
        </p:nvSpPr>
        <p:spPr>
          <a:xfrm>
            <a:off x="988722" y="4224528"/>
            <a:ext cx="4729568" cy="378195"/>
          </a:xfrm>
          <a:prstGeom prst="rect">
            <a:avLst/>
          </a:prstGeom>
          <a:noFill/>
        </p:spPr>
        <p:txBody>
          <a:bodyPr wrap="square" lIns="0" rIns="0" tIns="0" bIns="0">
            <a:spAutoFit/>
          </a:bodyPr>
          <a:lstStyle/>
          <a:p>
            <a:pPr>
              <a:spcAft>
                <a:spcPts val="455"/>
              </a:spcAft>
              <a:defRPr sz="2161" b="1">
                <a:solidFill>
                  <a:srgbClr val="26323F"/>
                </a:solidFill>
                <a:latin typeface="Arial"/>
              </a:defRPr>
            </a:pPr>
            <a:r>
              <a:rPr>
                <a:latin typeface="Arial"/>
              </a:rPr>
              <a:t>A high score can hide a bad gait</a:t>
            </a:r>
          </a:p>
        </p:txBody>
      </p:sp>
      <p:sp>
        <p:nvSpPr>
          <p:cNvPr id="17" name="TextBox 16"/>
          <p:cNvSpPr txBox="1"/>
          <p:nvPr/>
        </p:nvSpPr>
        <p:spPr>
          <a:xfrm>
            <a:off x="988722" y="4748844"/>
            <a:ext cx="4729568" cy="300837"/>
          </a:xfrm>
          <a:prstGeom prst="rect">
            <a:avLst/>
          </a:prstGeom>
          <a:noFill/>
        </p:spPr>
        <p:txBody>
          <a:bodyPr wrap="square" lIns="0" rIns="0" tIns="0" bIns="0">
            <a:spAutoFit/>
          </a:bodyPr>
          <a:lstStyle/>
          <a:p>
            <a:pPr>
              <a:spcAft>
                <a:spcPts val="455"/>
              </a:spcAft>
              <a:defRPr sz="1691" b="0">
                <a:solidFill>
                  <a:srgbClr val="5A626D"/>
                </a:solidFill>
                <a:latin typeface="Arial"/>
              </a:defRPr>
            </a:pPr>
            <a:r>
              <a:rPr>
                <a:latin typeface="Arial"/>
              </a:rPr>
              <a:t>Dragging, contact chatter and fragile startup</a:t>
            </a:r>
          </a:p>
        </p:txBody>
      </p:sp>
      <p:sp>
        <p:nvSpPr>
          <p:cNvPr id="18" name="Rounded Rectangle 17"/>
          <p:cNvSpPr/>
          <p:nvPr/>
        </p:nvSpPr>
        <p:spPr>
          <a:xfrm>
            <a:off x="6219379" y="3700211"/>
            <a:ext cx="5160328" cy="152997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TextBox 18"/>
          <p:cNvSpPr txBox="1"/>
          <p:nvPr/>
        </p:nvSpPr>
        <p:spPr>
          <a:xfrm>
            <a:off x="6395199" y="3846332"/>
            <a:ext cx="4773524" cy="232074"/>
          </a:xfrm>
          <a:prstGeom prst="rect">
            <a:avLst/>
          </a:prstGeom>
          <a:noFill/>
        </p:spPr>
        <p:txBody>
          <a:bodyPr wrap="square" lIns="0" rIns="0" tIns="0" bIns="0">
            <a:spAutoFit/>
          </a:bodyPr>
          <a:lstStyle/>
          <a:p>
            <a:pPr>
              <a:spcAft>
                <a:spcPts val="455"/>
              </a:spcAft>
              <a:defRPr sz="1128" b="1">
                <a:solidFill>
                  <a:srgbClr val="E2001A"/>
                </a:solidFill>
                <a:latin typeface="Arial"/>
              </a:defRPr>
            </a:pPr>
            <a:r>
              <a:rPr>
                <a:latin typeface="Arial"/>
              </a:rPr>
              <a:t>UNKNOWN UNKNOWNS</a:t>
            </a:r>
          </a:p>
        </p:txBody>
      </p:sp>
      <p:sp>
        <p:nvSpPr>
          <p:cNvPr id="20" name="TextBox 19"/>
          <p:cNvSpPr txBox="1"/>
          <p:nvPr/>
        </p:nvSpPr>
        <p:spPr>
          <a:xfrm>
            <a:off x="6395199" y="4224528"/>
            <a:ext cx="4773524" cy="378195"/>
          </a:xfrm>
          <a:prstGeom prst="rect">
            <a:avLst/>
          </a:prstGeom>
          <a:noFill/>
        </p:spPr>
        <p:txBody>
          <a:bodyPr wrap="square" lIns="0" rIns="0" tIns="0" bIns="0">
            <a:spAutoFit/>
          </a:bodyPr>
          <a:lstStyle/>
          <a:p>
            <a:pPr>
              <a:spcAft>
                <a:spcPts val="455"/>
              </a:spcAft>
              <a:defRPr sz="2161" b="1">
                <a:solidFill>
                  <a:srgbClr val="26323F"/>
                </a:solidFill>
                <a:latin typeface="Arial"/>
              </a:defRPr>
            </a:pPr>
            <a:r>
              <a:rPr>
                <a:latin typeface="Arial"/>
              </a:rPr>
              <a:t>Unmodeled effects</a:t>
            </a:r>
          </a:p>
        </p:txBody>
      </p:sp>
      <p:sp>
        <p:nvSpPr>
          <p:cNvPr id="21" name="TextBox 20"/>
          <p:cNvSpPr txBox="1"/>
          <p:nvPr/>
        </p:nvSpPr>
        <p:spPr>
          <a:xfrm>
            <a:off x="6395199" y="4748844"/>
            <a:ext cx="4773524" cy="300837"/>
          </a:xfrm>
          <a:prstGeom prst="rect">
            <a:avLst/>
          </a:prstGeom>
          <a:noFill/>
        </p:spPr>
        <p:txBody>
          <a:bodyPr wrap="square" lIns="0" rIns="0" tIns="0" bIns="0">
            <a:spAutoFit/>
          </a:bodyPr>
          <a:lstStyle/>
          <a:p>
            <a:pPr>
              <a:spcAft>
                <a:spcPts val="455"/>
              </a:spcAft>
              <a:defRPr sz="1691" b="0">
                <a:solidFill>
                  <a:srgbClr val="5A626D"/>
                </a:solidFill>
                <a:latin typeface="Arial"/>
              </a:defRPr>
            </a:pPr>
            <a:r>
              <a:rPr>
                <a:latin typeface="Arial"/>
              </a:rPr>
              <a:t>Short trials and logs before adding complexity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What we need</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17</a:t>
            </a:r>
          </a:p>
        </p:txBody>
      </p:sp>
      <p:sp>
        <p:nvSpPr>
          <p:cNvPr id="5" name="TextBox 4"/>
          <p:cNvSpPr txBox="1"/>
          <p:nvPr/>
        </p:nvSpPr>
        <p:spPr>
          <a:xfrm>
            <a:off x="812901" y="1860803"/>
            <a:ext cx="3402124" cy="300837"/>
          </a:xfrm>
          <a:prstGeom prst="rect">
            <a:avLst/>
          </a:prstGeom>
          <a:noFill/>
        </p:spPr>
        <p:txBody>
          <a:bodyPr wrap="square" lIns="0" rIns="0" tIns="0" bIns="0">
            <a:spAutoFit/>
          </a:bodyPr>
          <a:lstStyle/>
          <a:p>
            <a:pPr>
              <a:spcAft>
                <a:spcPts val="455"/>
              </a:spcAft>
              <a:defRPr sz="1316" b="1">
                <a:solidFill>
                  <a:srgbClr val="E2001A"/>
                </a:solidFill>
                <a:latin typeface="Arial"/>
              </a:defRPr>
            </a:pPr>
            <a:r>
              <a:rPr>
                <a:latin typeface="Arial"/>
              </a:rPr>
              <a:t>WHAT WE HAVE</a:t>
            </a:r>
          </a:p>
        </p:txBody>
      </p:sp>
      <p:sp>
        <p:nvSpPr>
          <p:cNvPr id="6" name="TextBox 5"/>
          <p:cNvSpPr txBox="1"/>
          <p:nvPr/>
        </p:nvSpPr>
        <p:spPr>
          <a:xfrm>
            <a:off x="812901" y="2402311"/>
            <a:ext cx="3551572" cy="180502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A working RL pipeline</a:t>
            </a:r>
          </a:p>
          <a:p>
            <a:pPr>
              <a:spcAft>
                <a:spcPts val="455"/>
              </a:spcAft>
              <a:defRPr sz="2350" b="1">
                <a:solidFill>
                  <a:srgbClr val="26323F"/>
                </a:solidFill>
                <a:latin typeface="Arial"/>
              </a:defRPr>
            </a:pPr>
            <a:r>
              <a:rPr>
                <a:latin typeface="Arial"/>
              </a:rPr>
              <a:t>Better speed tracking</a:t>
            </a:r>
          </a:p>
          <a:p>
            <a:pPr>
              <a:spcAft>
                <a:spcPts val="455"/>
              </a:spcAft>
              <a:defRPr sz="2350" b="1">
                <a:solidFill>
                  <a:srgbClr val="26323F"/>
                </a:solidFill>
                <a:latin typeface="Arial"/>
              </a:defRPr>
            </a:pPr>
            <a:r>
              <a:rPr>
                <a:latin typeface="Arial"/>
              </a:rPr>
              <a:t>Higher foot clearance</a:t>
            </a:r>
          </a:p>
        </p:txBody>
      </p:sp>
      <p:sp>
        <p:nvSpPr>
          <p:cNvPr id="7" name="TextBox 6"/>
          <p:cNvSpPr txBox="1"/>
          <p:nvPr/>
        </p:nvSpPr>
        <p:spPr>
          <a:xfrm>
            <a:off x="4557876" y="1860803"/>
            <a:ext cx="3402124" cy="300837"/>
          </a:xfrm>
          <a:prstGeom prst="rect">
            <a:avLst/>
          </a:prstGeom>
          <a:noFill/>
        </p:spPr>
        <p:txBody>
          <a:bodyPr wrap="square" lIns="0" rIns="0" tIns="0" bIns="0">
            <a:spAutoFit/>
          </a:bodyPr>
          <a:lstStyle/>
          <a:p>
            <a:pPr>
              <a:spcAft>
                <a:spcPts val="455"/>
              </a:spcAft>
              <a:defRPr sz="1316" b="1">
                <a:solidFill>
                  <a:srgbClr val="E2001A"/>
                </a:solidFill>
                <a:latin typeface="Arial"/>
              </a:defRPr>
            </a:pPr>
            <a:r>
              <a:rPr>
                <a:latin typeface="Arial"/>
              </a:rPr>
              <a:t>WHAT COMES NEXT</a:t>
            </a:r>
          </a:p>
        </p:txBody>
      </p:sp>
      <p:sp>
        <p:nvSpPr>
          <p:cNvPr id="8" name="TextBox 7"/>
          <p:cNvSpPr txBox="1"/>
          <p:nvPr/>
        </p:nvSpPr>
        <p:spPr>
          <a:xfrm>
            <a:off x="4557876" y="2402311"/>
            <a:ext cx="3402124" cy="180502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Treadmill tests ASAP</a:t>
            </a:r>
          </a:p>
          <a:p>
            <a:pPr>
              <a:spcAft>
                <a:spcPts val="455"/>
              </a:spcAft>
              <a:defRPr sz="2350" b="1">
                <a:solidFill>
                  <a:srgbClr val="26323F"/>
                </a:solidFill>
                <a:latin typeface="Arial"/>
              </a:defRPr>
            </a:pPr>
            <a:r>
              <a:rPr>
                <a:latin typeface="Arial"/>
              </a:rPr>
              <a:t>Measure the mismatch</a:t>
            </a:r>
          </a:p>
          <a:p>
            <a:pPr>
              <a:spcAft>
                <a:spcPts val="455"/>
              </a:spcAft>
              <a:defRPr sz="2350" b="1">
                <a:solidFill>
                  <a:srgbClr val="26323F"/>
                </a:solidFill>
                <a:latin typeface="Arial"/>
              </a:defRPr>
            </a:pPr>
            <a:r>
              <a:rPr>
                <a:latin typeface="Arial"/>
              </a:rPr>
              <a:t>Integrate start → walk → stop</a:t>
            </a:r>
          </a:p>
        </p:txBody>
      </p:sp>
      <p:sp>
        <p:nvSpPr>
          <p:cNvPr id="9" name="TextBox 8"/>
          <p:cNvSpPr txBox="1"/>
          <p:nvPr/>
        </p:nvSpPr>
        <p:spPr>
          <a:xfrm>
            <a:off x="8302850" y="1860803"/>
            <a:ext cx="3076857" cy="300837"/>
          </a:xfrm>
          <a:prstGeom prst="rect">
            <a:avLst/>
          </a:prstGeom>
          <a:noFill/>
        </p:spPr>
        <p:txBody>
          <a:bodyPr wrap="square" lIns="0" rIns="0" tIns="0" bIns="0">
            <a:spAutoFit/>
          </a:bodyPr>
          <a:lstStyle/>
          <a:p>
            <a:pPr>
              <a:spcAft>
                <a:spcPts val="455"/>
              </a:spcAft>
              <a:defRPr sz="1316" b="1">
                <a:solidFill>
                  <a:srgbClr val="E2001A"/>
                </a:solidFill>
                <a:latin typeface="Arial"/>
              </a:defRPr>
            </a:pPr>
            <a:r>
              <a:rPr>
                <a:latin typeface="Arial"/>
              </a:rPr>
              <a:t>WHAT WILL HELP</a:t>
            </a:r>
          </a:p>
        </p:txBody>
      </p:sp>
      <p:sp>
        <p:nvSpPr>
          <p:cNvPr id="10" name="TextBox 9"/>
          <p:cNvSpPr txBox="1"/>
          <p:nvPr/>
        </p:nvSpPr>
        <p:spPr>
          <a:xfrm>
            <a:off x="8302850" y="2402311"/>
            <a:ext cx="3076857" cy="2105863"/>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Test access with Tim</a:t>
            </a:r>
          </a:p>
          <a:p>
            <a:pPr>
              <a:spcAft>
                <a:spcPts val="455"/>
              </a:spcAft>
              <a:defRPr sz="2350" b="1">
                <a:solidFill>
                  <a:srgbClr val="26323F"/>
                </a:solidFill>
                <a:latin typeface="Arial"/>
              </a:defRPr>
            </a:pPr>
            <a:r>
              <a:rPr>
                <a:latin typeface="Arial"/>
              </a:rPr>
              <a:t>Repeatable test setup</a:t>
            </a:r>
          </a:p>
          <a:p>
            <a:pPr>
              <a:spcAft>
                <a:spcPts val="455"/>
              </a:spcAft>
              <a:defRPr sz="2350" b="1">
                <a:solidFill>
                  <a:srgbClr val="26323F"/>
                </a:solidFill>
                <a:latin typeface="Arial"/>
              </a:defRPr>
            </a:pPr>
            <a:r>
              <a:rPr>
                <a:latin typeface="Arial"/>
              </a:rPr>
              <a:t>Agree demo priorities</a:t>
            </a:r>
          </a:p>
        </p:txBody>
      </p:sp>
      <p:sp>
        <p:nvSpPr>
          <p:cNvPr id="11" name="TextBox 10"/>
          <p:cNvSpPr txBox="1"/>
          <p:nvPr/>
        </p:nvSpPr>
        <p:spPr>
          <a:xfrm>
            <a:off x="812901" y="5127040"/>
            <a:ext cx="10566806" cy="386791"/>
          </a:xfrm>
          <a:prstGeom prst="rect">
            <a:avLst/>
          </a:prstGeom>
          <a:noFill/>
        </p:spPr>
        <p:txBody>
          <a:bodyPr wrap="square" lIns="0" rIns="0" tIns="0" bIns="0">
            <a:spAutoFit/>
          </a:bodyPr>
          <a:lstStyle/>
          <a:p>
            <a:pPr>
              <a:spcAft>
                <a:spcPts val="455"/>
              </a:spcAft>
              <a:defRPr sz="2256" b="1">
                <a:solidFill>
                  <a:srgbClr val="26323F"/>
                </a:solidFill>
                <a:latin typeface="Arial"/>
              </a:defRPr>
            </a:pPr>
            <a:r>
              <a:rPr>
                <a:latin typeface="Arial"/>
              </a:rPr>
              <a:t>Priority: test the real robot while refining simulation.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Image 0" descr="/home/claude/deck/img/epfl_logo.png"/>
          <p:cNvPicPr>
            <a:picLocks noChangeAspect="1"/>
          </p:cNvPicPr>
          <p:nvPr/>
        </p:nvPicPr>
        <p:blipFill>
          <a:blip r:embed="rId2"/>
          <a:stretch>
            <a:fillRect/>
          </a:stretch>
        </p:blipFill>
        <p:spPr>
          <a:xfrm>
            <a:off x="812800" y="812800"/>
            <a:ext cx="1778000" cy="514350"/>
          </a:xfrm>
          <a:prstGeom prst="rect">
            <a:avLst/>
          </a:prstGeom>
        </p:spPr>
      </p:pic>
      <p:sp>
        <p:nvSpPr>
          <p:cNvPr id="4" name="Text 0"/>
          <p:cNvSpPr txBox="1"/>
          <p:nvPr/>
        </p:nvSpPr>
        <p:spPr>
          <a:xfrm>
            <a:off x="812800" y="2095500"/>
            <a:ext cx="6350000" cy="1143000"/>
          </a:xfrm>
          <a:prstGeom prst="rect">
            <a:avLst/>
          </a:prstGeom>
          <a:noFill/>
          <a:ln/>
        </p:spPr>
        <p:txBody>
          <a:bodyPr wrap="square" lIns="0" tIns="0" rIns="0" bIns="0" rtlCol="0" anchor="ctr"/>
          <a:lstStyle/>
          <a:p>
            <a:pPr marL="0" indent="0" algn="l">
              <a:lnSpc>
                <a:spcPct val="100000"/>
              </a:lnSpc>
              <a:buNone/>
            </a:pPr>
            <a:r>
              <a:rPr lang="en-US" sz="8000" b="1" dirty="0">
                <a:solidFill>
                  <a:srgbClr val="F2F4F6"/>
                </a:solidFill>
                <a:latin typeface="Arial" pitchFamily="34" charset="0"/>
                <a:ea typeface="Arial" pitchFamily="34" charset="-122"/>
                <a:cs typeface="Arial" pitchFamily="34" charset="-120"/>
              </a:rPr>
              <a:t>Questions?</a:t>
            </a:r>
            <a:endParaRPr lang="en-US" sz="8000" dirty="0"/>
          </a:p>
        </p:txBody>
      </p:sp>
      <p:sp>
        <p:nvSpPr>
          <p:cNvPr id="5" name="Shape 1"/>
          <p:cNvSpPr/>
          <p:nvPr/>
        </p:nvSpPr>
        <p:spPr>
          <a:xfrm>
            <a:off x="812800" y="3340100"/>
            <a:ext cx="1016000" cy="50800"/>
          </a:xfrm>
          <a:prstGeom prst="roundRect">
            <a:avLst>
              <a:gd name="adj" fmla="val 50000"/>
            </a:avLst>
          </a:prstGeom>
          <a:solidFill>
            <a:srgbClr val="E2001A"/>
          </a:solidFill>
          <a:ln/>
        </p:spPr>
        <p:txBody>
          <a:bodyPr/>
          <a:lstStyle/>
          <a:p>
            <a:endParaRPr lang="en-CH"/>
          </a:p>
        </p:txBody>
      </p:sp>
      <p:sp>
        <p:nvSpPr>
          <p:cNvPr id="6" name="Text 2"/>
          <p:cNvSpPr txBox="1"/>
          <p:nvPr/>
        </p:nvSpPr>
        <p:spPr>
          <a:xfrm>
            <a:off x="812800" y="3619500"/>
            <a:ext cx="6350000" cy="508000"/>
          </a:xfrm>
          <a:prstGeom prst="rect">
            <a:avLst/>
          </a:prstGeom>
          <a:noFill/>
          <a:ln/>
        </p:spPr>
        <p:txBody>
          <a:bodyPr wrap="square" lIns="0" tIns="0" rIns="0" bIns="0" rtlCol="0" anchor="t"/>
          <a:lstStyle/>
          <a:p>
            <a:pPr marL="0" indent="0" algn="l">
              <a:lnSpc>
                <a:spcPct val="100000"/>
              </a:lnSpc>
              <a:buNone/>
            </a:pPr>
            <a:r>
              <a:rPr lang="en-US" sz="2800" b="1" dirty="0">
                <a:solidFill>
                  <a:srgbClr val="F2F4F6"/>
                </a:solidFill>
                <a:latin typeface="Arial" pitchFamily="34" charset="0"/>
                <a:ea typeface="Arial" pitchFamily="34" charset="-122"/>
                <a:cs typeface="Arial" pitchFamily="34" charset="-120"/>
              </a:rPr>
              <a:t>Thank you</a:t>
            </a:r>
            <a:endParaRPr lang="en-US" sz="2800" dirty="0"/>
          </a:p>
        </p:txBody>
      </p:sp>
      <p:sp>
        <p:nvSpPr>
          <p:cNvPr id="7" name="Text 3"/>
          <p:cNvSpPr txBox="1"/>
          <p:nvPr/>
        </p:nvSpPr>
        <p:spPr>
          <a:xfrm>
            <a:off x="812800" y="4254500"/>
            <a:ext cx="6350000" cy="381000"/>
          </a:xfrm>
          <a:prstGeom prst="rect">
            <a:avLst/>
          </a:prstGeom>
          <a:noFill/>
          <a:ln/>
        </p:spPr>
        <p:txBody>
          <a:bodyPr wrap="square" lIns="0" tIns="0" rIns="0" bIns="0" rtlCol="0" anchor="t"/>
          <a:lstStyle/>
          <a:p>
            <a:pPr marL="0" indent="0" algn="l">
              <a:lnSpc>
                <a:spcPct val="100000"/>
              </a:lnSpc>
              <a:buNone/>
            </a:pPr>
            <a:r>
              <a:rPr lang="en-US" sz="2000" dirty="0">
                <a:solidFill>
                  <a:srgbClr val="AEB6BF"/>
                </a:solidFill>
                <a:latin typeface="Arial" pitchFamily="34" charset="0"/>
                <a:ea typeface="Arial" pitchFamily="34" charset="-122"/>
                <a:cs typeface="Arial" pitchFamily="34" charset="-120"/>
              </a:rPr>
              <a:t>Next: treadmill tests and sim-to-real</a:t>
            </a:r>
            <a:endParaRPr lang="en-US" sz="2000" dirty="0"/>
          </a:p>
        </p:txBody>
      </p:sp>
      <p:sp>
        <p:nvSpPr>
          <p:cNvPr id="8" name="Text 4"/>
          <p:cNvSpPr txBox="1"/>
          <p:nvPr/>
        </p:nvSpPr>
        <p:spPr>
          <a:xfrm>
            <a:off x="812800" y="6032500"/>
            <a:ext cx="6985000" cy="381000"/>
          </a:xfrm>
          <a:prstGeom prst="rect">
            <a:avLst/>
          </a:prstGeom>
          <a:noFill/>
          <a:ln/>
        </p:spPr>
        <p:txBody>
          <a:bodyPr wrap="square" lIns="0" tIns="0" rIns="0" bIns="0" rtlCol="0" anchor="ctr"/>
          <a:lstStyle/>
          <a:p>
            <a:pPr marL="0" indent="0" algn="l">
              <a:lnSpc>
                <a:spcPct val="100000"/>
              </a:lnSpc>
              <a:buNone/>
            </a:pPr>
            <a:r>
              <a:rPr lang="en-US" sz="2000" dirty="0">
                <a:solidFill>
                  <a:srgbClr val="AEB6BF"/>
                </a:solidFill>
                <a:latin typeface="Arial" pitchFamily="34" charset="0"/>
                <a:ea typeface="Arial" pitchFamily="34" charset="-122"/>
                <a:cs typeface="Arial" pitchFamily="34" charset="-120"/>
              </a:rPr>
              <a:t>DASH-01 · Midterm update · REHAssist Lab</a:t>
            </a:r>
            <a:endParaRPr lang="en-US" sz="2000" dirty="0"/>
          </a:p>
        </p:txBody>
      </p:sp>
      <p:sp>
        <p:nvSpPr>
          <p:cNvPr id="9" name="Text 5"/>
          <p:cNvSpPr txBox="1"/>
          <p:nvPr/>
        </p:nvSpPr>
        <p:spPr>
          <a:xfrm>
            <a:off x="9474200" y="6032500"/>
            <a:ext cx="1905000" cy="381000"/>
          </a:xfrm>
          <a:prstGeom prst="rect">
            <a:avLst/>
          </a:prstGeom>
          <a:noFill/>
          <a:ln/>
        </p:spPr>
        <p:txBody>
          <a:bodyPr wrap="square" lIns="0" tIns="0" rIns="0" bIns="0" rtlCol="0" anchor="ctr"/>
          <a:lstStyle/>
          <a:p>
            <a:pPr marL="0" indent="0" algn="r">
              <a:lnSpc>
                <a:spcPct val="100000"/>
              </a:lnSpc>
              <a:buNone/>
            </a:pPr>
            <a:r>
              <a:rPr lang="en-US" sz="2000" dirty="0">
                <a:solidFill>
                  <a:srgbClr val="AEB6BF"/>
                </a:solidFill>
                <a:latin typeface="Arial" pitchFamily="34" charset="0"/>
                <a:ea typeface="Arial" pitchFamily="34" charset="-122"/>
                <a:cs typeface="Arial" pitchFamily="34" charset="-120"/>
              </a:rPr>
              <a:t>18</a:t>
            </a:r>
            <a:endParaRPr lang="en-US" sz="2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Backup: reward definitions</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19</a:t>
            </a:r>
          </a:p>
        </p:txBody>
      </p:sp>
      <p:sp>
        <p:nvSpPr>
          <p:cNvPr id="5" name="TextBox 4"/>
          <p:cNvSpPr txBox="1"/>
          <p:nvPr/>
        </p:nvSpPr>
        <p:spPr>
          <a:xfrm>
            <a:off x="812901" y="1774850"/>
            <a:ext cx="1450518" cy="326623"/>
          </a:xfrm>
          <a:prstGeom prst="rect">
            <a:avLst/>
          </a:prstGeom>
          <a:noFill/>
        </p:spPr>
        <p:txBody>
          <a:bodyPr wrap="square" lIns="0" rIns="0" tIns="0" bIns="0">
            <a:spAutoFit/>
          </a:bodyPr>
          <a:lstStyle/>
          <a:p>
            <a:pPr>
              <a:spcAft>
                <a:spcPts val="455"/>
              </a:spcAft>
              <a:defRPr sz="1879" b="1">
                <a:solidFill>
                  <a:srgbClr val="E2001A"/>
                </a:solidFill>
                <a:latin typeface="Arial"/>
              </a:defRPr>
            </a:pPr>
            <a:r>
              <a:rPr>
                <a:latin typeface="Arial"/>
              </a:rPr>
              <a:t>Support</a:t>
            </a:r>
          </a:p>
        </p:txBody>
      </p:sp>
      <p:sp>
        <p:nvSpPr>
          <p:cNvPr id="6" name="TextBox 5"/>
          <p:cNvSpPr txBox="1"/>
          <p:nvPr/>
        </p:nvSpPr>
        <p:spPr>
          <a:xfrm>
            <a:off x="2439240" y="1774850"/>
            <a:ext cx="8896512" cy="318028"/>
          </a:xfrm>
          <a:prstGeom prst="rect">
            <a:avLst/>
          </a:prstGeom>
          <a:noFill/>
        </p:spPr>
        <p:txBody>
          <a:bodyPr wrap="square" lIns="0" rIns="0" tIns="0" bIns="0">
            <a:spAutoFit/>
          </a:bodyPr>
          <a:lstStyle/>
          <a:p>
            <a:pPr>
              <a:spcAft>
                <a:spcPts val="455"/>
              </a:spcAft>
              <a:defRPr sz="1786" b="0">
                <a:solidFill>
                  <a:srgbClr val="26323F"/>
                </a:solidFill>
                <a:latin typeface="Arial"/>
              </a:defRPr>
            </a:pPr>
            <a:r>
              <a:rPr>
                <a:latin typeface="Arial"/>
              </a:rPr>
              <a:t>Heel OR toe contact defines stance; both define flat support.</a:t>
            </a:r>
          </a:p>
        </p:txBody>
      </p:sp>
      <p:sp>
        <p:nvSpPr>
          <p:cNvPr id="7" name="TextBox 6"/>
          <p:cNvSpPr txBox="1"/>
          <p:nvPr/>
        </p:nvSpPr>
        <p:spPr>
          <a:xfrm>
            <a:off x="2439240" y="2110069"/>
            <a:ext cx="8896512" cy="275051"/>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Use force-qualified MuJoCo contact (≥2 N).</a:t>
            </a:r>
          </a:p>
        </p:txBody>
      </p:sp>
      <p:sp>
        <p:nvSpPr>
          <p:cNvPr id="8" name="TextBox 7"/>
          <p:cNvSpPr txBox="1"/>
          <p:nvPr/>
        </p:nvSpPr>
        <p:spPr>
          <a:xfrm>
            <a:off x="812901" y="2514051"/>
            <a:ext cx="1450518" cy="326623"/>
          </a:xfrm>
          <a:prstGeom prst="rect">
            <a:avLst/>
          </a:prstGeom>
          <a:noFill/>
        </p:spPr>
        <p:txBody>
          <a:bodyPr wrap="square" lIns="0" rIns="0" tIns="0" bIns="0">
            <a:spAutoFit/>
          </a:bodyPr>
          <a:lstStyle/>
          <a:p>
            <a:pPr>
              <a:spcAft>
                <a:spcPts val="455"/>
              </a:spcAft>
              <a:defRPr sz="1879" b="1">
                <a:solidFill>
                  <a:srgbClr val="E2001A"/>
                </a:solidFill>
                <a:latin typeface="Arial"/>
              </a:defRPr>
            </a:pPr>
            <a:r>
              <a:rPr>
                <a:latin typeface="Arial"/>
              </a:rPr>
              <a:t>Slip</a:t>
            </a:r>
          </a:p>
        </p:txBody>
      </p:sp>
      <p:sp>
        <p:nvSpPr>
          <p:cNvPr id="9" name="TextBox 8"/>
          <p:cNvSpPr txBox="1"/>
          <p:nvPr/>
        </p:nvSpPr>
        <p:spPr>
          <a:xfrm>
            <a:off x="2439240" y="2514051"/>
            <a:ext cx="8896512" cy="318028"/>
          </a:xfrm>
          <a:prstGeom prst="rect">
            <a:avLst/>
          </a:prstGeom>
          <a:noFill/>
        </p:spPr>
        <p:txBody>
          <a:bodyPr wrap="square" lIns="0" rIns="0" tIns="0" bIns="0">
            <a:spAutoFit/>
          </a:bodyPr>
          <a:lstStyle/>
          <a:p>
            <a:pPr>
              <a:spcAft>
                <a:spcPts val="455"/>
              </a:spcAft>
              <a:defRPr sz="1786" b="0">
                <a:solidFill>
                  <a:srgbClr val="26323F"/>
                </a:solidFill>
                <a:latin typeface="Arial"/>
              </a:defRPr>
            </a:pPr>
            <a:r>
              <a:rPr>
                <a:latin typeface="Arial"/>
              </a:rPr>
              <a:t>Actual motion at the foot–ground contact, in all horizontal directions.</a:t>
            </a:r>
          </a:p>
        </p:txBody>
      </p:sp>
      <p:sp>
        <p:nvSpPr>
          <p:cNvPr id="10" name="TextBox 9"/>
          <p:cNvSpPr txBox="1"/>
          <p:nvPr/>
        </p:nvSpPr>
        <p:spPr>
          <a:xfrm>
            <a:off x="2439240" y="2849270"/>
            <a:ext cx="8896512" cy="275051"/>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Forward, backward and sideways sliding remain penalized.</a:t>
            </a:r>
          </a:p>
        </p:txBody>
      </p:sp>
      <p:sp>
        <p:nvSpPr>
          <p:cNvPr id="11" name="TextBox 10"/>
          <p:cNvSpPr txBox="1"/>
          <p:nvPr/>
        </p:nvSpPr>
        <p:spPr>
          <a:xfrm>
            <a:off x="812901" y="3253252"/>
            <a:ext cx="1450518" cy="326623"/>
          </a:xfrm>
          <a:prstGeom prst="rect">
            <a:avLst/>
          </a:prstGeom>
          <a:noFill/>
        </p:spPr>
        <p:txBody>
          <a:bodyPr wrap="square" lIns="0" rIns="0" tIns="0" bIns="0">
            <a:spAutoFit/>
          </a:bodyPr>
          <a:lstStyle/>
          <a:p>
            <a:pPr>
              <a:spcAft>
                <a:spcPts val="455"/>
              </a:spcAft>
              <a:defRPr sz="1879" b="1">
                <a:solidFill>
                  <a:srgbClr val="E2001A"/>
                </a:solidFill>
                <a:latin typeface="Arial"/>
              </a:defRPr>
            </a:pPr>
            <a:r>
              <a:rPr>
                <a:latin typeface="Arial"/>
              </a:rPr>
              <a:t>Symmetry</a:t>
            </a:r>
          </a:p>
        </p:txBody>
      </p:sp>
      <p:sp>
        <p:nvSpPr>
          <p:cNvPr id="12" name="TextBox 11"/>
          <p:cNvSpPr txBox="1"/>
          <p:nvPr/>
        </p:nvSpPr>
        <p:spPr>
          <a:xfrm>
            <a:off x="2439240" y="3253252"/>
            <a:ext cx="8896512" cy="318028"/>
          </a:xfrm>
          <a:prstGeom prst="rect">
            <a:avLst/>
          </a:prstGeom>
          <a:noFill/>
        </p:spPr>
        <p:txBody>
          <a:bodyPr wrap="square" lIns="0" rIns="0" tIns="0" bIns="0">
            <a:spAutoFit/>
          </a:bodyPr>
          <a:lstStyle/>
          <a:p>
            <a:pPr>
              <a:spcAft>
                <a:spcPts val="455"/>
              </a:spcAft>
              <a:defRPr sz="1786" b="0">
                <a:solidFill>
                  <a:srgbClr val="26323F"/>
                </a:solidFill>
                <a:latin typeface="Arial"/>
              </a:defRPr>
            </a:pPr>
            <a:r>
              <a:rPr>
                <a:latin typeface="Arial"/>
              </a:rPr>
              <a:t>Compare several completed stance / swing cycles from both feet.</a:t>
            </a:r>
          </a:p>
        </p:txBody>
      </p:sp>
      <p:sp>
        <p:nvSpPr>
          <p:cNvPr id="13" name="TextBox 12"/>
          <p:cNvSpPr txBox="1"/>
          <p:nvPr/>
        </p:nvSpPr>
        <p:spPr>
          <a:xfrm>
            <a:off x="2439240" y="3588470"/>
            <a:ext cx="8896512" cy="275051"/>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Temporary pad contact loss does not itself terminate.</a:t>
            </a:r>
          </a:p>
        </p:txBody>
      </p:sp>
      <p:sp>
        <p:nvSpPr>
          <p:cNvPr id="14" name="TextBox 13"/>
          <p:cNvSpPr txBox="1"/>
          <p:nvPr/>
        </p:nvSpPr>
        <p:spPr>
          <a:xfrm>
            <a:off x="812901" y="3992453"/>
            <a:ext cx="1450518" cy="326623"/>
          </a:xfrm>
          <a:prstGeom prst="rect">
            <a:avLst/>
          </a:prstGeom>
          <a:noFill/>
        </p:spPr>
        <p:txBody>
          <a:bodyPr wrap="square" lIns="0" rIns="0" tIns="0" bIns="0">
            <a:spAutoFit/>
          </a:bodyPr>
          <a:lstStyle/>
          <a:p>
            <a:pPr>
              <a:spcAft>
                <a:spcPts val="455"/>
              </a:spcAft>
              <a:defRPr sz="1879" b="1">
                <a:solidFill>
                  <a:srgbClr val="E2001A"/>
                </a:solidFill>
                <a:latin typeface="Arial"/>
              </a:defRPr>
            </a:pPr>
            <a:r>
              <a:rPr>
                <a:latin typeface="Arial"/>
              </a:rPr>
              <a:t>Flat support</a:t>
            </a:r>
          </a:p>
        </p:txBody>
      </p:sp>
      <p:sp>
        <p:nvSpPr>
          <p:cNvPr id="15" name="TextBox 14"/>
          <p:cNvSpPr txBox="1"/>
          <p:nvPr/>
        </p:nvSpPr>
        <p:spPr>
          <a:xfrm>
            <a:off x="2439240" y="3992453"/>
            <a:ext cx="8896512" cy="318028"/>
          </a:xfrm>
          <a:prstGeom prst="rect">
            <a:avLst/>
          </a:prstGeom>
          <a:noFill/>
        </p:spPr>
        <p:txBody>
          <a:bodyPr wrap="square" lIns="0" rIns="0" tIns="0" bIns="0">
            <a:spAutoFit/>
          </a:bodyPr>
          <a:lstStyle/>
          <a:p>
            <a:pPr>
              <a:spcAft>
                <a:spcPts val="455"/>
              </a:spcAft>
              <a:defRPr sz="1786" b="0">
                <a:solidFill>
                  <a:srgbClr val="26323F"/>
                </a:solidFill>
                <a:latin typeface="Arial"/>
              </a:defRPr>
            </a:pPr>
            <a:r>
              <a:rPr>
                <a:latin typeface="Arial"/>
              </a:rPr>
              <a:t>Modest missing-flat-support cost in mid-stance only.</a:t>
            </a:r>
          </a:p>
        </p:txBody>
      </p:sp>
      <p:sp>
        <p:nvSpPr>
          <p:cNvPr id="16" name="TextBox 15"/>
          <p:cNvSpPr txBox="1"/>
          <p:nvPr/>
        </p:nvSpPr>
        <p:spPr>
          <a:xfrm>
            <a:off x="2439240" y="4327672"/>
            <a:ext cx="8896512" cy="275051"/>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First / last 20% of stance are exempt; no planted-foot bonus.</a:t>
            </a:r>
          </a:p>
        </p:txBody>
      </p:sp>
      <p:sp>
        <p:nvSpPr>
          <p:cNvPr id="17" name="TextBox 16"/>
          <p:cNvSpPr txBox="1"/>
          <p:nvPr/>
        </p:nvSpPr>
        <p:spPr>
          <a:xfrm>
            <a:off x="812901" y="4731654"/>
            <a:ext cx="1450518" cy="326623"/>
          </a:xfrm>
          <a:prstGeom prst="rect">
            <a:avLst/>
          </a:prstGeom>
          <a:noFill/>
        </p:spPr>
        <p:txBody>
          <a:bodyPr wrap="square" lIns="0" rIns="0" tIns="0" bIns="0">
            <a:spAutoFit/>
          </a:bodyPr>
          <a:lstStyle/>
          <a:p>
            <a:pPr>
              <a:spcAft>
                <a:spcPts val="455"/>
              </a:spcAft>
              <a:defRPr sz="1879" b="1">
                <a:solidFill>
                  <a:srgbClr val="E2001A"/>
                </a:solidFill>
                <a:latin typeface="Arial"/>
              </a:defRPr>
            </a:pPr>
            <a:r>
              <a:rPr>
                <a:latin typeface="Arial"/>
              </a:rPr>
              <a:t>Clearance</a:t>
            </a:r>
          </a:p>
        </p:txBody>
      </p:sp>
      <p:sp>
        <p:nvSpPr>
          <p:cNvPr id="18" name="TextBox 17"/>
          <p:cNvSpPr txBox="1"/>
          <p:nvPr/>
        </p:nvSpPr>
        <p:spPr>
          <a:xfrm>
            <a:off x="2439240" y="4731654"/>
            <a:ext cx="8896512" cy="318028"/>
          </a:xfrm>
          <a:prstGeom prst="rect">
            <a:avLst/>
          </a:prstGeom>
          <a:noFill/>
        </p:spPr>
        <p:txBody>
          <a:bodyPr wrap="square" lIns="0" rIns="0" tIns="0" bIns="0">
            <a:spAutoFit/>
          </a:bodyPr>
          <a:lstStyle/>
          <a:p>
            <a:pPr>
              <a:spcAft>
                <a:spcPts val="455"/>
              </a:spcAft>
              <a:defRPr sz="1786" b="0">
                <a:solidFill>
                  <a:srgbClr val="26323F"/>
                </a:solidFill>
                <a:latin typeface="Arial"/>
              </a:defRPr>
            </a:pPr>
            <a:r>
              <a:rPr>
                <a:latin typeface="Arial"/>
              </a:rPr>
              <a:t>Lowest oriented heel/toe pad surface, not a toe point alone.</a:t>
            </a:r>
          </a:p>
        </p:txBody>
      </p:sp>
      <p:sp>
        <p:nvSpPr>
          <p:cNvPr id="19" name="TextBox 18"/>
          <p:cNvSpPr txBox="1"/>
          <p:nvPr/>
        </p:nvSpPr>
        <p:spPr>
          <a:xfrm>
            <a:off x="2439240" y="5066872"/>
            <a:ext cx="8896512" cy="275051"/>
          </a:xfrm>
          <a:prstGeom prst="rect">
            <a:avLst/>
          </a:prstGeom>
          <a:noFill/>
        </p:spPr>
        <p:txBody>
          <a:bodyPr wrap="square" lIns="0" rIns="0" tIns="0" bIns="0">
            <a:spAutoFit/>
          </a:bodyPr>
          <a:lstStyle/>
          <a:p>
            <a:pPr>
              <a:spcAft>
                <a:spcPts val="455"/>
              </a:spcAft>
              <a:defRPr sz="1504" b="0">
                <a:solidFill>
                  <a:srgbClr val="5A626D"/>
                </a:solidFill>
                <a:latin typeface="Arial"/>
              </a:defRPr>
            </a:pPr>
            <a:r>
              <a:rPr>
                <a:latin typeface="Arial"/>
              </a:rPr>
              <a:t>CLEARANCE-02: 10 mm minimum with edge ramps; soft 25 mm upper target.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Backup: the failed replay</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20</a:t>
            </a:r>
          </a:p>
        </p:txBody>
      </p:sp>
      <p:pic>
        <p:nvPicPr>
          <p:cNvPr id="5" name="standalone_failur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12901" y="1903780"/>
            <a:ext cx="6417444" cy="2922422"/>
          </a:xfrm>
          <a:prstGeom prst="rect">
            <a:avLst/>
          </a:prstGeom>
        </p:spPr>
      </p:pic>
      <p:sp>
        <p:nvSpPr>
          <p:cNvPr id="6" name="TextBox 5"/>
          <p:cNvSpPr txBox="1"/>
          <p:nvPr/>
        </p:nvSpPr>
        <p:spPr>
          <a:xfrm>
            <a:off x="7581987" y="1929566"/>
            <a:ext cx="3780138" cy="378195"/>
          </a:xfrm>
          <a:prstGeom prst="rect">
            <a:avLst/>
          </a:prstGeom>
          <a:noFill/>
        </p:spPr>
        <p:txBody>
          <a:bodyPr wrap="square" lIns="0" rIns="0" tIns="0" bIns="0">
            <a:spAutoFit/>
          </a:bodyPr>
          <a:lstStyle/>
          <a:p>
            <a:pPr>
              <a:spcAft>
                <a:spcPts val="455"/>
              </a:spcAft>
              <a:defRPr sz="2350" b="1">
                <a:solidFill>
                  <a:srgbClr val="26323F"/>
                </a:solidFill>
                <a:latin typeface="Arial"/>
              </a:defRPr>
            </a:pPr>
            <a:r>
              <a:rPr>
                <a:latin typeface="Arial"/>
              </a:rPr>
              <a:t>Same trained checkpoint</a:t>
            </a:r>
          </a:p>
        </p:txBody>
      </p:sp>
      <p:sp>
        <p:nvSpPr>
          <p:cNvPr id="7" name="TextBox 6"/>
          <p:cNvSpPr txBox="1"/>
          <p:nvPr/>
        </p:nvSpPr>
        <p:spPr>
          <a:xfrm>
            <a:off x="7581987" y="2608600"/>
            <a:ext cx="3780138" cy="876726"/>
          </a:xfrm>
          <a:prstGeom prst="rect">
            <a:avLst/>
          </a:prstGeom>
          <a:noFill/>
        </p:spPr>
        <p:txBody>
          <a:bodyPr wrap="square" lIns="0" rIns="0" tIns="0" bIns="0">
            <a:spAutoFit/>
          </a:bodyPr>
          <a:lstStyle/>
          <a:p>
            <a:pPr>
              <a:spcAft>
                <a:spcPts val="455"/>
              </a:spcAft>
              <a:defRPr sz="2068" b="0">
                <a:solidFill>
                  <a:srgbClr val="176A55"/>
                </a:solidFill>
                <a:latin typeface="Arial"/>
              </a:defRPr>
            </a:pPr>
            <a:r>
              <a:rPr>
                <a:latin typeface="Arial"/>
              </a:rPr>
              <a:t>12-environment protocol</a:t>
            </a:r>
          </a:p>
          <a:p>
            <a:pPr>
              <a:spcAft>
                <a:spcPts val="455"/>
              </a:spcAft>
              <a:defRPr sz="2068" b="0">
                <a:solidFill>
                  <a:srgbClr val="176A55"/>
                </a:solidFill>
                <a:latin typeface="Arial"/>
              </a:defRPr>
            </a:pPr>
            <a:r>
              <a:rPr>
                <a:latin typeface="Arial"/>
              </a:rPr>
              <a:t>12 / 12 survive 25 s</a:t>
            </a:r>
          </a:p>
        </p:txBody>
      </p:sp>
      <p:sp>
        <p:nvSpPr>
          <p:cNvPr id="8" name="TextBox 7"/>
          <p:cNvSpPr txBox="1"/>
          <p:nvPr/>
        </p:nvSpPr>
        <p:spPr>
          <a:xfrm>
            <a:off x="7581987" y="3734592"/>
            <a:ext cx="3780138" cy="876726"/>
          </a:xfrm>
          <a:prstGeom prst="rect">
            <a:avLst/>
          </a:prstGeom>
          <a:noFill/>
        </p:spPr>
        <p:txBody>
          <a:bodyPr wrap="square" lIns="0" rIns="0" tIns="0" bIns="0">
            <a:spAutoFit/>
          </a:bodyPr>
          <a:lstStyle/>
          <a:p>
            <a:pPr>
              <a:spcAft>
                <a:spcPts val="455"/>
              </a:spcAft>
              <a:defRPr sz="2068" b="1">
                <a:solidFill>
                  <a:srgbClr val="E2001A"/>
                </a:solidFill>
                <a:latin typeface="Arial"/>
              </a:defRPr>
            </a:pPr>
            <a:r>
              <a:rPr>
                <a:latin typeface="Arial"/>
              </a:rPr>
              <a:t>Standalone pinned command</a:t>
            </a:r>
          </a:p>
          <a:p>
            <a:pPr>
              <a:spcAft>
                <a:spcPts val="455"/>
              </a:spcAft>
              <a:defRPr sz="2068" b="1">
                <a:solidFill>
                  <a:srgbClr val="E2001A"/>
                </a:solidFill>
                <a:latin typeface="Arial"/>
              </a:defRPr>
            </a:pPr>
            <a:r>
              <a:rPr>
                <a:latin typeface="Arial"/>
              </a:rPr>
              <a:t>Fall at 3.67 s</a:t>
            </a:r>
          </a:p>
        </p:txBody>
      </p:sp>
      <p:sp>
        <p:nvSpPr>
          <p:cNvPr id="9" name="TextBox 8"/>
          <p:cNvSpPr txBox="1"/>
          <p:nvPr/>
        </p:nvSpPr>
        <p:spPr>
          <a:xfrm>
            <a:off x="812901" y="5212994"/>
            <a:ext cx="10566806" cy="515721"/>
          </a:xfrm>
          <a:prstGeom prst="rect">
            <a:avLst/>
          </a:prstGeom>
          <a:noFill/>
        </p:spPr>
        <p:txBody>
          <a:bodyPr wrap="square" lIns="0" rIns="0" tIns="0" bIns="0">
            <a:spAutoFit/>
          </a:bodyPr>
          <a:lstStyle/>
          <a:p>
            <a:pPr>
              <a:spcAft>
                <a:spcPts val="455"/>
              </a:spcAft>
              <a:defRPr sz="2068" b="1">
                <a:solidFill>
                  <a:srgbClr val="26323F"/>
                </a:solidFill>
                <a:latin typeface="Arial"/>
              </a:defRPr>
            </a:pPr>
            <a:r>
              <a:rPr>
                <a:latin typeface="Arial"/>
              </a:rPr>
              <a:t>Both batch size and command handling changed; the cause is not isolated.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0"/>
          <p:cNvSpPr txBox="1"/>
          <p:nvPr/>
        </p:nvSpPr>
        <p:spPr>
          <a:xfrm>
            <a:off x="812800" y="812800"/>
            <a:ext cx="10566400" cy="635000"/>
          </a:xfrm>
          <a:prstGeom prst="rect">
            <a:avLst/>
          </a:prstGeom>
          <a:noFill/>
          <a:ln/>
        </p:spPr>
        <p:txBody>
          <a:bodyPr wrap="square" lIns="0" tIns="0" rIns="0" bIns="0" rtlCol="0" anchor="ctr"/>
          <a:lstStyle/>
          <a:p>
            <a:pPr marL="0" indent="0" algn="l">
              <a:lnSpc>
                <a:spcPct val="100000"/>
              </a:lnSpc>
              <a:buNone/>
            </a:pPr>
            <a:r>
              <a:rPr lang="en-US" sz="3600" b="1" dirty="0">
                <a:solidFill>
                  <a:srgbClr val="1B2028"/>
                </a:solidFill>
                <a:latin typeface="Arial" pitchFamily="34" charset="0"/>
                <a:ea typeface="Arial" pitchFamily="34" charset="-122"/>
                <a:cs typeface="Arial" pitchFamily="34" charset="-120"/>
              </a:rPr>
              <a:t>Backup: evidence and comparison limits</a:t>
            </a:r>
            <a:endParaRPr lang="en-US" sz="3600" dirty="0"/>
          </a:p>
        </p:txBody>
      </p:sp>
      <p:sp>
        <p:nvSpPr>
          <p:cNvPr id="4" name="TextBox 3"/>
          <p:cNvSpPr txBox="1"/>
          <p:nvPr/>
        </p:nvSpPr>
        <p:spPr>
          <a:xfrm>
            <a:off x="9474098" y="6032296"/>
            <a:ext cx="1904695" cy="381304"/>
          </a:xfrm>
          <a:prstGeom prst="rect">
            <a:avLst/>
          </a:prstGeom>
          <a:noFill/>
        </p:spPr>
        <p:txBody>
          <a:bodyPr wrap="square" lIns="0" rIns="0" tIns="0" bIns="0">
            <a:spAutoFit/>
          </a:bodyPr>
          <a:lstStyle/>
          <a:p>
            <a:pPr algn="r">
              <a:spcAft>
                <a:spcPts val="700"/>
              </a:spcAft>
              <a:defRPr sz="2000" b="0">
                <a:solidFill>
                  <a:srgbClr val="5A626D"/>
                </a:solidFill>
                <a:latin typeface="Arial"/>
              </a:defRPr>
            </a:pPr>
            <a:r>
              <a:t>21</a:t>
            </a:r>
          </a:p>
        </p:txBody>
      </p:sp>
      <p:sp>
        <p:nvSpPr>
          <p:cNvPr id="5" name="Rectangle 4"/>
          <p:cNvSpPr/>
          <p:nvPr/>
        </p:nvSpPr>
        <p:spPr>
          <a:xfrm>
            <a:off x="812901" y="1774850"/>
            <a:ext cx="10566806" cy="532912"/>
          </a:xfrm>
          <a:prstGeom prst="rect">
            <a:avLst/>
          </a:prstGeom>
          <a:solidFill>
            <a:srgbClr val="E8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TextBox 5"/>
          <p:cNvSpPr txBox="1"/>
          <p:nvPr/>
        </p:nvSpPr>
        <p:spPr>
          <a:xfrm>
            <a:off x="944766" y="1826421"/>
            <a:ext cx="2329620" cy="481340"/>
          </a:xfrm>
          <a:prstGeom prst="rect">
            <a:avLst/>
          </a:prstGeom>
          <a:noFill/>
        </p:spPr>
        <p:txBody>
          <a:bodyPr wrap="square" lIns="0" rIns="0" tIns="0" bIns="0">
            <a:spAutoFit/>
          </a:bodyPr>
          <a:lstStyle/>
          <a:p>
            <a:pPr>
              <a:spcAft>
                <a:spcPts val="455"/>
              </a:spcAft>
              <a:defRPr sz="1504" b="1">
                <a:solidFill>
                  <a:srgbClr val="26323F"/>
                </a:solidFill>
                <a:latin typeface="Arial"/>
              </a:defRPr>
            </a:pPr>
            <a:r>
              <a:rPr>
                <a:latin typeface="Arial"/>
              </a:rPr>
              <a:t>Experiment</a:t>
            </a:r>
          </a:p>
        </p:txBody>
      </p:sp>
      <p:sp>
        <p:nvSpPr>
          <p:cNvPr id="7" name="TextBox 6"/>
          <p:cNvSpPr txBox="1"/>
          <p:nvPr/>
        </p:nvSpPr>
        <p:spPr>
          <a:xfrm>
            <a:off x="3423834" y="1826421"/>
            <a:ext cx="3120812" cy="481340"/>
          </a:xfrm>
          <a:prstGeom prst="rect">
            <a:avLst/>
          </a:prstGeom>
          <a:noFill/>
        </p:spPr>
        <p:txBody>
          <a:bodyPr wrap="square" lIns="0" rIns="0" tIns="0" bIns="0">
            <a:spAutoFit/>
          </a:bodyPr>
          <a:lstStyle/>
          <a:p>
            <a:pPr>
              <a:spcAft>
                <a:spcPts val="455"/>
              </a:spcAft>
              <a:defRPr sz="1504" b="1">
                <a:solidFill>
                  <a:srgbClr val="26323F"/>
                </a:solidFill>
                <a:latin typeface="Arial"/>
              </a:defRPr>
            </a:pPr>
            <a:r>
              <a:rPr>
                <a:latin typeface="Arial"/>
              </a:rPr>
              <a:t>Training / checkpoint</a:t>
            </a:r>
          </a:p>
        </p:txBody>
      </p:sp>
      <p:sp>
        <p:nvSpPr>
          <p:cNvPr id="8" name="TextBox 7"/>
          <p:cNvSpPr txBox="1"/>
          <p:nvPr/>
        </p:nvSpPr>
        <p:spPr>
          <a:xfrm>
            <a:off x="6702885" y="1826421"/>
            <a:ext cx="4501002" cy="481340"/>
          </a:xfrm>
          <a:prstGeom prst="rect">
            <a:avLst/>
          </a:prstGeom>
          <a:noFill/>
        </p:spPr>
        <p:txBody>
          <a:bodyPr wrap="square" lIns="0" rIns="0" tIns="0" bIns="0">
            <a:spAutoFit/>
          </a:bodyPr>
          <a:lstStyle/>
          <a:p>
            <a:pPr>
              <a:spcAft>
                <a:spcPts val="455"/>
              </a:spcAft>
              <a:defRPr sz="1504" b="1">
                <a:solidFill>
                  <a:srgbClr val="26323F"/>
                </a:solidFill>
                <a:latin typeface="Arial"/>
              </a:defRPr>
            </a:pPr>
            <a:r>
              <a:rPr>
                <a:latin typeface="Arial"/>
              </a:rPr>
              <a:t>What is established</a:t>
            </a:r>
          </a:p>
        </p:txBody>
      </p:sp>
      <p:sp>
        <p:nvSpPr>
          <p:cNvPr id="9" name="TextBox 8"/>
          <p:cNvSpPr txBox="1"/>
          <p:nvPr/>
        </p:nvSpPr>
        <p:spPr>
          <a:xfrm>
            <a:off x="944766" y="2410907"/>
            <a:ext cx="2329620"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STOP-03 · previous model</a:t>
            </a:r>
          </a:p>
        </p:txBody>
      </p:sp>
      <p:sp>
        <p:nvSpPr>
          <p:cNvPr id="10" name="TextBox 9"/>
          <p:cNvSpPr txBox="1"/>
          <p:nvPr/>
        </p:nvSpPr>
        <p:spPr>
          <a:xfrm>
            <a:off x="3423834" y="2410907"/>
            <a:ext cx="312081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Imitation + PPO; near-standing resets</a:t>
            </a:r>
          </a:p>
        </p:txBody>
      </p:sp>
      <p:sp>
        <p:nvSpPr>
          <p:cNvPr id="11" name="TextBox 10"/>
          <p:cNvSpPr txBox="1"/>
          <p:nvPr/>
        </p:nvSpPr>
        <p:spPr>
          <a:xfrm>
            <a:off x="6702885" y="2410907"/>
            <a:ext cx="450100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21/32 strict 5 s holds after imitation; not a moving stop.</a:t>
            </a:r>
          </a:p>
        </p:txBody>
      </p:sp>
      <p:sp>
        <p:nvSpPr>
          <p:cNvPr id="12" name="Rectangle 11"/>
          <p:cNvSpPr/>
          <p:nvPr/>
        </p:nvSpPr>
        <p:spPr>
          <a:xfrm>
            <a:off x="812901" y="2943819"/>
            <a:ext cx="10566806" cy="532912"/>
          </a:xfrm>
          <a:prstGeom prst="rect">
            <a:avLst/>
          </a:prstGeom>
          <a:solidFill>
            <a:srgbClr val="E8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TextBox 12"/>
          <p:cNvSpPr txBox="1"/>
          <p:nvPr/>
        </p:nvSpPr>
        <p:spPr>
          <a:xfrm>
            <a:off x="944766" y="2995391"/>
            <a:ext cx="2329620"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WALK-01 · CAD-v2</a:t>
            </a:r>
          </a:p>
        </p:txBody>
      </p:sp>
      <p:sp>
        <p:nvSpPr>
          <p:cNvPr id="14" name="TextBox 13"/>
          <p:cNvSpPr txBox="1"/>
          <p:nvPr/>
        </p:nvSpPr>
        <p:spPr>
          <a:xfrm>
            <a:off x="3423834" y="2995391"/>
            <a:ext cx="312081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200M; best 169.57M</a:t>
            </a:r>
          </a:p>
        </p:txBody>
      </p:sp>
      <p:sp>
        <p:nvSpPr>
          <p:cNvPr id="15" name="TextBox 14"/>
          <p:cNvSpPr txBox="1"/>
          <p:nvPr/>
        </p:nvSpPr>
        <p:spPr>
          <a:xfrm>
            <a:off x="6702885" y="2995391"/>
            <a:ext cx="450100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28/28 nominal 30 s trials; 0.181 m/s speed error.</a:t>
            </a:r>
          </a:p>
        </p:txBody>
      </p:sp>
      <p:sp>
        <p:nvSpPr>
          <p:cNvPr id="16" name="TextBox 15"/>
          <p:cNvSpPr txBox="1"/>
          <p:nvPr/>
        </p:nvSpPr>
        <p:spPr>
          <a:xfrm>
            <a:off x="944766" y="3579876"/>
            <a:ext cx="2329620"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Flat-feet · CAD-v2</a:t>
            </a:r>
          </a:p>
        </p:txBody>
      </p:sp>
      <p:sp>
        <p:nvSpPr>
          <p:cNvPr id="17" name="TextBox 16"/>
          <p:cNvSpPr txBox="1"/>
          <p:nvPr/>
        </p:nvSpPr>
        <p:spPr>
          <a:xfrm>
            <a:off x="3423834" y="3579876"/>
            <a:ext cx="312081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200M; best 184.32M</a:t>
            </a:r>
          </a:p>
        </p:txBody>
      </p:sp>
      <p:sp>
        <p:nvSpPr>
          <p:cNvPr id="18" name="TextBox 17"/>
          <p:cNvSpPr txBox="1"/>
          <p:nvPr/>
        </p:nvSpPr>
        <p:spPr>
          <a:xfrm>
            <a:off x="6702885" y="3579876"/>
            <a:ext cx="450100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28/28 nominal 30 s trials; 0.049 m/s speed error.</a:t>
            </a:r>
          </a:p>
        </p:txBody>
      </p:sp>
      <p:sp>
        <p:nvSpPr>
          <p:cNvPr id="19" name="Rectangle 18"/>
          <p:cNvSpPr/>
          <p:nvPr/>
        </p:nvSpPr>
        <p:spPr>
          <a:xfrm>
            <a:off x="812901" y="4112788"/>
            <a:ext cx="10566806" cy="532912"/>
          </a:xfrm>
          <a:prstGeom prst="rect">
            <a:avLst/>
          </a:prstGeom>
          <a:solidFill>
            <a:srgbClr val="E8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944766" y="4164360"/>
            <a:ext cx="2329620"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CLEARANCE-01</a:t>
            </a:r>
          </a:p>
        </p:txBody>
      </p:sp>
      <p:sp>
        <p:nvSpPr>
          <p:cNvPr id="21" name="TextBox 20"/>
          <p:cNvSpPr txBox="1"/>
          <p:nvPr/>
        </p:nvSpPr>
        <p:spPr>
          <a:xfrm>
            <a:off x="3423834" y="4164360"/>
            <a:ext cx="312081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+50.01M from flat-feet best</a:t>
            </a:r>
          </a:p>
        </p:txBody>
      </p:sp>
      <p:sp>
        <p:nvSpPr>
          <p:cNvPr id="22" name="TextBox 21"/>
          <p:cNvSpPr txBox="1"/>
          <p:nvPr/>
        </p:nvSpPr>
        <p:spPr>
          <a:xfrm>
            <a:off x="6702885" y="4164360"/>
            <a:ext cx="450100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23.62 / 20.91 mm mean airborne lift; no full qualification.</a:t>
            </a:r>
          </a:p>
        </p:txBody>
      </p:sp>
      <p:sp>
        <p:nvSpPr>
          <p:cNvPr id="23" name="TextBox 22"/>
          <p:cNvSpPr txBox="1"/>
          <p:nvPr/>
        </p:nvSpPr>
        <p:spPr>
          <a:xfrm>
            <a:off x="944766" y="4748844"/>
            <a:ext cx="2329620"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CLEARANCE-02</a:t>
            </a:r>
          </a:p>
        </p:txBody>
      </p:sp>
      <p:sp>
        <p:nvSpPr>
          <p:cNvPr id="24" name="TextBox 23"/>
          <p:cNvSpPr txBox="1"/>
          <p:nvPr/>
        </p:nvSpPr>
        <p:spPr>
          <a:xfrm>
            <a:off x="3423834" y="4748844"/>
            <a:ext cx="312081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200M additional requested; job 3231747</a:t>
            </a:r>
          </a:p>
        </p:txBody>
      </p:sp>
      <p:sp>
        <p:nvSpPr>
          <p:cNvPr id="25" name="TextBox 24"/>
          <p:cNvSpPr txBox="1"/>
          <p:nvPr/>
        </p:nvSpPr>
        <p:spPr>
          <a:xfrm>
            <a:off x="6702885" y="4748844"/>
            <a:ext cx="4501002" cy="481340"/>
          </a:xfrm>
          <a:prstGeom prst="rect">
            <a:avLst/>
          </a:prstGeom>
          <a:noFill/>
        </p:spPr>
        <p:txBody>
          <a:bodyPr wrap="square" lIns="0" rIns="0" tIns="0" bIns="0">
            <a:spAutoFit/>
          </a:bodyPr>
          <a:lstStyle/>
          <a:p>
            <a:pPr>
              <a:spcAft>
                <a:spcPts val="455"/>
              </a:spcAft>
              <a:defRPr sz="1504" b="0">
                <a:solidFill>
                  <a:srgbClr val="26323F"/>
                </a:solidFill>
                <a:latin typeface="Arial"/>
              </a:defRPr>
            </a:pPr>
            <a:r>
              <a:rPr>
                <a:latin typeface="Arial"/>
              </a:rPr>
              <a:t>Submitted 26 October; results not reviewed.</a:t>
            </a:r>
          </a:p>
        </p:txBody>
      </p:sp>
      <p:sp>
        <p:nvSpPr>
          <p:cNvPr id="26" name="TextBox 25"/>
          <p:cNvSpPr txBox="1"/>
          <p:nvPr/>
        </p:nvSpPr>
        <p:spPr>
          <a:xfrm>
            <a:off x="944766" y="5427878"/>
            <a:ext cx="10373403" cy="558698"/>
          </a:xfrm>
          <a:prstGeom prst="rect">
            <a:avLst/>
          </a:prstGeom>
          <a:noFill/>
        </p:spPr>
        <p:txBody>
          <a:bodyPr wrap="square" lIns="0" rIns="0" tIns="0" bIns="0">
            <a:spAutoFit/>
          </a:bodyPr>
          <a:lstStyle/>
          <a:p>
            <a:pPr>
              <a:spcAft>
                <a:spcPts val="455"/>
              </a:spcAft>
              <a:defRPr sz="1597" b="0">
                <a:solidFill>
                  <a:srgbClr val="5A626D"/>
                </a:solidFill>
                <a:latin typeface="Arial"/>
              </a:defRPr>
            </a:pPr>
            <a:r>
              <a:rPr>
                <a:latin typeface="Arial"/>
              </a:rPr>
              <a:t>All displayed motion is simulation. Different training changes are not isolated ablations.</a:t>
            </a:r>
          </a:p>
          <a:p>
            <a:pPr>
              <a:spcAft>
                <a:spcPts val="455"/>
              </a:spcAft>
              <a:defRPr sz="1597" b="0">
                <a:solidFill>
                  <a:srgbClr val="5A626D"/>
                </a:solidFill>
                <a:latin typeface="Arial"/>
              </a:defRPr>
            </a:pPr>
            <a:r>
              <a:rPr>
                <a:latin typeface="Arial"/>
              </a:rPr>
              <a:t>Exact source paths, protocols and caveats are in the speaker notes and sources.md.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2427</Words>
  <Application>Microsoft Macintosh PowerPoint</Application>
  <PresentationFormat>Widescreen</PresentationFormat>
  <Paragraphs>256</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DASH-01 — Controller midterm</dc:title>
  <dc:subject>Controller architecture, experiments, demo and sim-to-real roadmap</dc:subject>
  <dc:creator>Léo-Paul Rizkallah</dc:creator>
  <cp:lastModifiedBy>Tim Kobler</cp:lastModifiedBy>
  <cp:revision>2</cp:revision>
  <dcterms:created xsi:type="dcterms:W3CDTF">2026-10-17T14:08:34Z</dcterms:created>
  <dcterms:modified xsi:type="dcterms:W3CDTF">2026-10-17T14:13:15Z</dcterms:modified>
  <dc:description>Prepared 26 October 2026. Results are simulation-only unless explicitly stated. Videos are embedded.</dc:description>
</cp:coreProperties>
</file>